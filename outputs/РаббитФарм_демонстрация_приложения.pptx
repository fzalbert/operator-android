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4f114a87e44aa" /><Relationship Type="http://schemas.openxmlformats.org/officeDocument/2006/relationships/extended-properties" Target="/docProps/app.xml" Id="R46b05c47a3014282" /><Relationship Type="http://schemas.openxmlformats.org/officeDocument/2006/relationships/officeDocument" Target="/ppt/presentation.xml" Id="R8ef50e37628e42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08bc92bd64d1a"/>
  </p:sldMasterIdLst>
  <p:notesMasterIdLst>
    <p:notesMasterId xmlns:r="http://schemas.openxmlformats.org/officeDocument/2006/relationships" r:id="R58fbbfa4e5d647d7"/>
  </p:notesMasterIdLst>
  <p:sldIdLst>
    <p:sldId xmlns:r="http://schemas.openxmlformats.org/officeDocument/2006/relationships" id="256" r:id="Ra02c84ab78f742b7"/>
    <p:sldId xmlns:r="http://schemas.openxmlformats.org/officeDocument/2006/relationships" id="257" r:id="R556ec5a242914e29"/>
    <p:sldId xmlns:r="http://schemas.openxmlformats.org/officeDocument/2006/relationships" id="258" r:id="R2cebe6d6d53a4f27"/>
    <p:sldId xmlns:r="http://schemas.openxmlformats.org/officeDocument/2006/relationships" id="259" r:id="R573f539986094781"/>
    <p:sldId xmlns:r="http://schemas.openxmlformats.org/officeDocument/2006/relationships" id="260" r:id="R5853d3708a9c48d8"/>
    <p:sldId xmlns:r="http://schemas.openxmlformats.org/officeDocument/2006/relationships" id="261" r:id="R45d5d98ae0404701"/>
    <p:sldId xmlns:r="http://schemas.openxmlformats.org/officeDocument/2006/relationships" id="262" r:id="R309d7de0660544c1"/>
    <p:sldId xmlns:r="http://schemas.openxmlformats.org/officeDocument/2006/relationships" id="263" r:id="R6ec5a208968940e1"/>
    <p:sldId xmlns:r="http://schemas.openxmlformats.org/officeDocument/2006/relationships" id="264" r:id="R0c520eb492824fe3"/>
    <p:sldId xmlns:r="http://schemas.openxmlformats.org/officeDocument/2006/relationships" id="265" r:id="R334e3488c40d4e4d"/>
    <p:sldId xmlns:r="http://schemas.openxmlformats.org/officeDocument/2006/relationships" id="266" r:id="Rae38b14f26fe4dd1"/>
    <p:sldId xmlns:r="http://schemas.openxmlformats.org/officeDocument/2006/relationships" id="267" r:id="Rc0f5223dfa454d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aa32f36a744d21" /><Relationship Type="http://schemas.openxmlformats.org/officeDocument/2006/relationships/slideMaster" Target="/ppt/slideMasters/slideMaster1.xml" Id="R52e08bc92bd64d1a" /><Relationship Type="http://schemas.openxmlformats.org/officeDocument/2006/relationships/notesMaster" Target="/ppt/notesMasters/notesMaster1.xml" Id="R58fbbfa4e5d647d7" /><Relationship Type="http://schemas.openxmlformats.org/officeDocument/2006/relationships/presProps" Target="/ppt/presProps.xml" Id="Rf2babd709fbc4698" /><Relationship Type="http://schemas.openxmlformats.org/officeDocument/2006/relationships/tableStyles" Target="/ppt/tableStyles.xml" Id="R13a0838f6adc4ec4" /><Relationship Type="http://schemas.openxmlformats.org/officeDocument/2006/relationships/slide" Target="/ppt/slides/slide1.xml" Id="Ra02c84ab78f742b7" /><Relationship Type="http://schemas.openxmlformats.org/officeDocument/2006/relationships/slide" Target="/ppt/slides/slide2.xml" Id="R556ec5a242914e29" /><Relationship Type="http://schemas.openxmlformats.org/officeDocument/2006/relationships/slide" Target="/ppt/slides/slide3.xml" Id="R2cebe6d6d53a4f27" /><Relationship Type="http://schemas.openxmlformats.org/officeDocument/2006/relationships/slide" Target="/ppt/slides/slide4.xml" Id="R573f539986094781" /><Relationship Type="http://schemas.openxmlformats.org/officeDocument/2006/relationships/slide" Target="/ppt/slides/slide5.xml" Id="R5853d3708a9c48d8" /><Relationship Type="http://schemas.openxmlformats.org/officeDocument/2006/relationships/slide" Target="/ppt/slides/slide6.xml" Id="R45d5d98ae0404701" /><Relationship Type="http://schemas.openxmlformats.org/officeDocument/2006/relationships/slide" Target="/ppt/slides/slide7.xml" Id="R309d7de0660544c1" /><Relationship Type="http://schemas.openxmlformats.org/officeDocument/2006/relationships/slide" Target="/ppt/slides/slide8.xml" Id="R6ec5a208968940e1" /><Relationship Type="http://schemas.openxmlformats.org/officeDocument/2006/relationships/slide" Target="/ppt/slides/slide9.xml" Id="R0c520eb492824fe3" /><Relationship Type="http://schemas.openxmlformats.org/officeDocument/2006/relationships/slide" Target="/ppt/slides/slide10.xml" Id="R334e3488c40d4e4d" /><Relationship Type="http://schemas.openxmlformats.org/officeDocument/2006/relationships/slide" Target="/ppt/slides/slide11.xml" Id="Rae38b14f26fe4dd1" /><Relationship Type="http://schemas.openxmlformats.org/officeDocument/2006/relationships/slide" Target="/ppt/slides/slide12.xml" Id="Rc0f5223dfa454d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dcaa9297a3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f290c4049641bf" /><Relationship Type="http://schemas.openxmlformats.org/officeDocument/2006/relationships/notesMaster" Target="/ppt/notesMasters/notesMaster1.xml" Id="Rebd0710c7210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93881f312c4f82" /><Relationship Type="http://schemas.openxmlformats.org/officeDocument/2006/relationships/notesMaster" Target="/ppt/notesMasters/notesMaster1.xml" Id="R334ca2e7172947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af723c1ccf4cd0" /><Relationship Type="http://schemas.openxmlformats.org/officeDocument/2006/relationships/notesMaster" Target="/ppt/notesMasters/notesMaster1.xml" Id="R5e12e6ce0b03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c0ba7ccae4d60" /><Relationship Type="http://schemas.openxmlformats.org/officeDocument/2006/relationships/notesMaster" Target="/ppt/notesMasters/notesMaster1.xml" Id="Ra0893c4277ed4e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e2d5f74cfa43cc" /><Relationship Type="http://schemas.openxmlformats.org/officeDocument/2006/relationships/notesMaster" Target="/ppt/notesMasters/notesMaster1.xml" Id="R212fae43a16846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72e949ef25413f" /><Relationship Type="http://schemas.openxmlformats.org/officeDocument/2006/relationships/notesMaster" Target="/ppt/notesMasters/notesMaster1.xml" Id="R52e3ceba24bb46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ccc9028415403e" /><Relationship Type="http://schemas.openxmlformats.org/officeDocument/2006/relationships/notesMaster" Target="/ppt/notesMasters/notesMaster1.xml" Id="R023c4e6fc93746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750a6f4fa4ddf" /><Relationship Type="http://schemas.openxmlformats.org/officeDocument/2006/relationships/notesMaster" Target="/ppt/notesMasters/notesMaster1.xml" Id="Rb876fa10fee2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8c0205b29f4cf4" /><Relationship Type="http://schemas.openxmlformats.org/officeDocument/2006/relationships/notesMaster" Target="/ppt/notesMasters/notesMaster1.xml" Id="R791da828db8342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d22a49321a43a1" /><Relationship Type="http://schemas.openxmlformats.org/officeDocument/2006/relationships/notesMaster" Target="/ppt/notesMasters/notesMaster1.xml" Id="R97b91dbcb10c4b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24bc621ad644ee" /><Relationship Type="http://schemas.openxmlformats.org/officeDocument/2006/relationships/notesMaster" Target="/ppt/notesMasters/notesMaster1.xml" Id="R40d25880d17f42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ee84fc74f945a6" /><Relationship Type="http://schemas.openxmlformats.org/officeDocument/2006/relationships/notesMaster" Target="/ppt/notesMasters/notesMaster1.xml" Id="Rd717a010f7144c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711af1963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f1f8035914d23" /><Relationship Type="http://schemas.openxmlformats.org/officeDocument/2006/relationships/slideLayout" Target="/ppt/slideLayouts/slideLayout1.xml" Id="R735db1c5e818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db1c5e818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71f485279421a" /><Relationship Type="http://schemas.openxmlformats.org/officeDocument/2006/relationships/notesSlide" Target="/ppt/notesSlides/notesSlide1.xml" Id="Rf5276ba10c17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561e61f234855" /><Relationship Type="http://schemas.openxmlformats.org/officeDocument/2006/relationships/notesSlide" Target="/ppt/notesSlides/notesSlide2.xml" Id="Rd6dfad3459b04f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41eebb49a436b" /><Relationship Type="http://schemas.openxmlformats.org/officeDocument/2006/relationships/image" Target="/ppt/media/image.png" Id="Rd09e1c27cc98450f" /><Relationship Type="http://schemas.openxmlformats.org/officeDocument/2006/relationships/notesSlide" Target="/ppt/notesSlides/notesSlide3.xml" Id="R6e09b75794b3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bd86c39704ac1" /><Relationship Type="http://schemas.openxmlformats.org/officeDocument/2006/relationships/image" Target="/ppt/media/image2.png" Id="R16de43ef4a19438c" /><Relationship Type="http://schemas.openxmlformats.org/officeDocument/2006/relationships/notesSlide" Target="/ppt/notesSlides/notesSlide4.xml" Id="Rc7f5e5af833d4d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67bcbe981476c" /><Relationship Type="http://schemas.openxmlformats.org/officeDocument/2006/relationships/image" Target="/ppt/media/image3.png" Id="R9c74075ae0764c54" /><Relationship Type="http://schemas.openxmlformats.org/officeDocument/2006/relationships/notesSlide" Target="/ppt/notesSlides/notesSlide5.xml" Id="R0d1a094d9fa8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5e0b52ce94450" /><Relationship Type="http://schemas.openxmlformats.org/officeDocument/2006/relationships/image" Target="/ppt/media/image4.png" Id="R5e12af48c505409e" /><Relationship Type="http://schemas.openxmlformats.org/officeDocument/2006/relationships/image" Target="/ppt/media/image5.png" Id="Rf8e3a4a828574ac1" /><Relationship Type="http://schemas.openxmlformats.org/officeDocument/2006/relationships/notesSlide" Target="/ppt/notesSlides/notesSlide6.xml" Id="R6d5c078cb8ec4d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260d094bf4c3d" /><Relationship Type="http://schemas.openxmlformats.org/officeDocument/2006/relationships/image" Target="/ppt/media/image6.png" Id="Re9b131f9716941e2" /><Relationship Type="http://schemas.openxmlformats.org/officeDocument/2006/relationships/image" Target="/ppt/media/image7.png" Id="Rb5f9062c0f514f31" /><Relationship Type="http://schemas.openxmlformats.org/officeDocument/2006/relationships/notesSlide" Target="/ppt/notesSlides/notesSlide7.xml" Id="R8e932708dbb8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9ddab176548e1" /><Relationship Type="http://schemas.openxmlformats.org/officeDocument/2006/relationships/image" Target="/ppt/media/image8.png" Id="Rd7dbca9ec8394e59" /><Relationship Type="http://schemas.openxmlformats.org/officeDocument/2006/relationships/image" Target="/ppt/media/image9.png" Id="R65e44febac1a4510" /><Relationship Type="http://schemas.openxmlformats.org/officeDocument/2006/relationships/notesSlide" Target="/ppt/notesSlides/notesSlide8.xml" Id="R6cb2c146cb754d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51624f864754" /><Relationship Type="http://schemas.openxmlformats.org/officeDocument/2006/relationships/image" Target="/ppt/media/image10.png" Id="R1c7d3dc5e39f427d" /><Relationship Type="http://schemas.openxmlformats.org/officeDocument/2006/relationships/image" Target="/ppt/media/image11.png" Id="Re3bae3351a4f4e8f" /><Relationship Type="http://schemas.openxmlformats.org/officeDocument/2006/relationships/notesSlide" Target="/ppt/notesSlides/notesSlide9.xml" Id="Rdb39122a266649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5c5c98ad741f6" /><Relationship Type="http://schemas.openxmlformats.org/officeDocument/2006/relationships/notesSlide" Target="/ppt/notesSlides/notesSlide10.xml" Id="Rc689b857188e46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a5cc4a7eb4fd9" /><Relationship Type="http://schemas.openxmlformats.org/officeDocument/2006/relationships/notesSlide" Target="/ppt/notesSlides/notesSlide11.xml" Id="Re5280d99a8e843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4d15e42f4544" /><Relationship Type="http://schemas.openxmlformats.org/officeDocument/2006/relationships/notesSlide" Target="/ppt/notesSlides/notesSlide12.xml" Id="R78fe40d9e82544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9AB7B-7578-4DEB-9516-1136B37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9215-0BE8-4D3A-8993-9FF2E9E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3" name="Text-52-40">
            <a:extLst xmlns:a="http://schemas.openxmlformats.org/drawingml/2006/main">
              <a:ext uri="{FF2B5EF4-FFF2-40B4-BE49-F238E27FC236}">
                <a16:creationId xmlns:a16="http://schemas.microsoft.com/office/drawing/2014/main" id="{2FEDFC1C-B039-48BC-BA19-D8BBE6E8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ПРЕДПОКАЗ · 2026</a:t>
            </a:r>
          </a:p>
        </p:txBody>
      </p:sp>
      <p:sp>
        <p:nvSpPr>
          <p:cNvPr id="4" name="Text-52-190">
            <a:extLst xmlns:a="http://schemas.openxmlformats.org/drawingml/2006/main">
              <a:ext uri="{FF2B5EF4-FFF2-40B4-BE49-F238E27FC236}">
                <a16:creationId xmlns:a16="http://schemas.microsoft.com/office/drawing/2014/main" id="{32026E26-CD29-4D23-8DA7-96C97C1D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876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РаббитФарм</a:t>
            </a:r>
          </a:p>
        </p:txBody>
      </p:sp>
      <p:sp>
        <p:nvSpPr>
          <p:cNvPr id="5" name="Text-52-300">
            <a:extLst xmlns:a="http://schemas.openxmlformats.org/drawingml/2006/main">
              <a:ext uri="{FF2B5EF4-FFF2-40B4-BE49-F238E27FC236}">
                <a16:creationId xmlns:a16="http://schemas.microsoft.com/office/drawing/2014/main" id="{AAE121D7-A96F-4A13-A60D-B774980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819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Мобильное рабочее место фермы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95300" y="3733800"/>
            <a:ext cx="10668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7" name="Text-52-438">
            <a:extLst xmlns:a="http://schemas.openxmlformats.org/drawingml/2006/main">
              <a:ext uri="{FF2B5EF4-FFF2-40B4-BE49-F238E27FC236}">
                <a16:creationId xmlns:a16="http://schemas.microsoft.com/office/drawing/2014/main" id="{4C9D24A0-5CE1-41C5-AFCA-AC4B2189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685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От плана смены — к подтверждённому результату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20EC-848C-41AE-A03D-B0275F9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7195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9" name="Text-944-465">
            <a:extLst xmlns:a="http://schemas.openxmlformats.org/drawingml/2006/main">
              <a:ext uri="{FF2B5EF4-FFF2-40B4-BE49-F238E27FC236}">
                <a16:creationId xmlns:a16="http://schemas.microsoft.com/office/drawing/2014/main" id="{29D3C615-FDF9-4874-A4FA-ACA621CF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192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оператор → контроль</a:t>
            </a:r>
          </a:p>
        </p:txBody>
      </p:sp>
      <p:sp>
        <p:nvSpPr>
          <p:cNvPr id="10" name="Text-52-642">
            <a:extLst xmlns:a="http://schemas.openxmlformats.org/drawingml/2006/main">
              <a:ext uri="{FF2B5EF4-FFF2-40B4-BE49-F238E27FC236}">
                <a16:creationId xmlns:a16="http://schemas.microsoft.com/office/drawing/2014/main" id="{3C3475AF-723C-4D63-A483-275F5314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Короткая демонстрация для команды и заказчика</a:t>
            </a:r>
          </a:p>
        </p:txBody>
      </p:sp>
    </p:spTree>
    <p:extLst>
      <p:ext uri="{BB962C8B-B14F-4D97-AF65-F5344CB8AC3E}">
        <p14:creationId xmlns:p14="http://schemas.microsoft.com/office/powerpoint/2010/main" val="889902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D86EEC-417E-4D86-866D-8AC7BF2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76D9BAB3-878D-4805-BB56-90094104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8A8022B9-C6CF-41F5-9D1C-845E91D3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Один рабочий процесс — без разрывов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4F5ED2F3-B6CC-4777-8697-71EE661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876300" y="3333750"/>
            <a:ext cx="10382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76F3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D5753-D7CF-4595-8239-DB3A9D5C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8" name="Text-92-334">
            <a:extLst xmlns:a="http://schemas.openxmlformats.org/drawingml/2006/main">
              <a:ext uri="{FF2B5EF4-FFF2-40B4-BE49-F238E27FC236}">
                <a16:creationId xmlns:a16="http://schemas.microsoft.com/office/drawing/2014/main" id="{AC25334A-0192-4DAA-AD8D-8E67C84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Text-92-410">
            <a:extLst xmlns:a="http://schemas.openxmlformats.org/drawingml/2006/main">
              <a:ext uri="{FF2B5EF4-FFF2-40B4-BE49-F238E27FC236}">
                <a16:creationId xmlns:a16="http://schemas.microsoft.com/office/drawing/2014/main" id="{F97060E9-1E38-42DF-AD66-7031BCC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Начать смену</a:t>
            </a:r>
          </a:p>
        </p:txBody>
      </p:sp>
      <p:sp>
        <p:nvSpPr>
          <p:cNvPr id="10" name="Text-92-460">
            <a:extLst xmlns:a="http://schemas.openxmlformats.org/drawingml/2006/main">
              <a:ext uri="{FF2B5EF4-FFF2-40B4-BE49-F238E27FC236}">
                <a16:creationId xmlns:a16="http://schemas.microsoft.com/office/drawing/2014/main" id="{B22F06FE-52EF-4762-A1D2-787E1E19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Увидеть план и приоритеты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8A7B-94C3-4367-9428-A58536C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2" name="Text-365-334">
            <a:extLst xmlns:a="http://schemas.openxmlformats.org/drawingml/2006/main">
              <a:ext uri="{FF2B5EF4-FFF2-40B4-BE49-F238E27FC236}">
                <a16:creationId xmlns:a16="http://schemas.microsoft.com/office/drawing/2014/main" id="{C86CD6BA-EEEC-49F2-9D22-AC449D63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Text-365-410">
            <a:extLst xmlns:a="http://schemas.openxmlformats.org/drawingml/2006/main">
              <a:ext uri="{FF2B5EF4-FFF2-40B4-BE49-F238E27FC236}">
                <a16:creationId xmlns:a16="http://schemas.microsoft.com/office/drawing/2014/main" id="{96C75FAE-2A88-4C5B-AC8D-6F288E9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Выполнить</a:t>
            </a:r>
          </a:p>
        </p:txBody>
      </p:sp>
      <p:sp>
        <p:nvSpPr>
          <p:cNvPr id="14" name="Text-365-460">
            <a:extLst xmlns:a="http://schemas.openxmlformats.org/drawingml/2006/main">
              <a:ext uri="{FF2B5EF4-FFF2-40B4-BE49-F238E27FC236}">
                <a16:creationId xmlns:a16="http://schemas.microsoft.com/office/drawing/2014/main" id="{E1CBF641-386A-4C00-A077-F1EC4FB2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Пройти задачу по шагам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C6089-EDAF-4B72-84AA-896FC6B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6" name="Text-638-334">
            <a:extLst xmlns:a="http://schemas.openxmlformats.org/drawingml/2006/main">
              <a:ext uri="{FF2B5EF4-FFF2-40B4-BE49-F238E27FC236}">
                <a16:creationId xmlns:a16="http://schemas.microsoft.com/office/drawing/2014/main" id="{3F3B9974-F246-478E-9975-77A0412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-638-410">
            <a:extLst xmlns:a="http://schemas.openxmlformats.org/drawingml/2006/main">
              <a:ext uri="{FF2B5EF4-FFF2-40B4-BE49-F238E27FC236}">
                <a16:creationId xmlns:a16="http://schemas.microsoft.com/office/drawing/2014/main" id="{CAA2E7B6-F5C1-4B36-B925-A9753C56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Подтвердить</a:t>
            </a:r>
          </a:p>
        </p:txBody>
      </p:sp>
      <p:sp>
        <p:nvSpPr>
          <p:cNvPr id="18" name="Text-638-460">
            <a:extLst xmlns:a="http://schemas.openxmlformats.org/drawingml/2006/main">
              <a:ext uri="{FF2B5EF4-FFF2-40B4-BE49-F238E27FC236}">
                <a16:creationId xmlns:a16="http://schemas.microsoft.com/office/drawing/2014/main" id="{3752895F-7101-4D63-8BF0-96C1A13A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Добавить фото, видео или файл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AF8E1-48F9-41A7-8620-F9E325E4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86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20" name="Text-911-334">
            <a:extLst xmlns:a="http://schemas.openxmlformats.org/drawingml/2006/main">
              <a:ext uri="{FF2B5EF4-FFF2-40B4-BE49-F238E27FC236}">
                <a16:creationId xmlns:a16="http://schemas.microsoft.com/office/drawing/2014/main" id="{60DE3EA6-F531-4985-91C8-9E51621C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813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Text-911-410">
            <a:extLst xmlns:a="http://schemas.openxmlformats.org/drawingml/2006/main">
              <a:ext uri="{FF2B5EF4-FFF2-40B4-BE49-F238E27FC236}">
                <a16:creationId xmlns:a16="http://schemas.microsoft.com/office/drawing/2014/main" id="{F1FB876D-B703-4C9F-A18D-1DFADB2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905250"/>
            <a:ext cx="2190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Проверить</a:t>
            </a:r>
          </a:p>
        </p:txBody>
      </p:sp>
      <p:sp>
        <p:nvSpPr>
          <p:cNvPr id="22" name="Text-911-460">
            <a:extLst xmlns:a="http://schemas.openxmlformats.org/drawingml/2006/main">
              <a:ext uri="{FF2B5EF4-FFF2-40B4-BE49-F238E27FC236}">
                <a16:creationId xmlns:a16="http://schemas.microsoft.com/office/drawing/2014/main" id="{62E5AF0E-7DB1-4832-BCA6-EDC3AB02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381500"/>
            <a:ext cx="2190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Принять результат или вернуть замечание</a:t>
            </a:r>
          </a:p>
        </p:txBody>
      </p:sp>
      <p:sp>
        <p:nvSpPr>
          <p:cNvPr id="23" name="Text-92-590">
            <a:extLst xmlns:a="http://schemas.openxmlformats.org/drawingml/2006/main">
              <a:ext uri="{FF2B5EF4-FFF2-40B4-BE49-F238E27FC236}">
                <a16:creationId xmlns:a16="http://schemas.microsoft.com/office/drawing/2014/main" id="{46F36D7A-3C5B-483C-B760-561CA7B9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81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Главная ценность: человек видит следующий понятный шаг, а руководитель — подтверждённый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4346524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843CE-B9D8-4EC3-8450-0D21E792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C39E9F5B-0A91-4AC8-927B-81F19E6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3BDB290C-9243-4EE7-94A9-FBED9D2F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Вход сразу открывает нужный рабочий сценарий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7A57FEA7-BC96-4A23-983E-69ED9746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Text-82-190">
            <a:extLst xmlns:a="http://schemas.openxmlformats.org/drawingml/2006/main">
              <a:ext uri="{FF2B5EF4-FFF2-40B4-BE49-F238E27FC236}">
                <a16:creationId xmlns:a16="http://schemas.microsoft.com/office/drawing/2014/main" id="{BEB1C354-9115-4837-9F7D-C329D5D6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Оператор</a:t>
            </a:r>
          </a:p>
        </p:txBody>
      </p:sp>
      <p:sp>
        <p:nvSpPr>
          <p:cNvPr id="7" name="Text-82-238">
            <a:extLst xmlns:a="http://schemas.openxmlformats.org/drawingml/2006/main">
              <a:ext uri="{FF2B5EF4-FFF2-40B4-BE49-F238E27FC236}">
                <a16:creationId xmlns:a16="http://schemas.microsoft.com/office/drawing/2014/main" id="{A2A25B4A-F287-4304-8765-643ADB0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810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Видит смену, свои задачи и форму результата.</a:t>
            </a:r>
          </a:p>
        </p:txBody>
      </p:sp>
      <p:sp>
        <p:nvSpPr>
          <p:cNvPr id="8" name="Text-82-350">
            <a:extLst xmlns:a="http://schemas.openxmlformats.org/drawingml/2006/main">
              <a:ext uri="{FF2B5EF4-FFF2-40B4-BE49-F238E27FC236}">
                <a16:creationId xmlns:a16="http://schemas.microsoft.com/office/drawing/2014/main" id="{D863B57C-CEC1-472D-B1C7-A2837FE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технолог</a:t>
            </a:r>
          </a:p>
        </p:txBody>
      </p:sp>
      <p:sp>
        <p:nvSpPr>
          <p:cNvPr id="9" name="Text-82-398">
            <a:extLst xmlns:a="http://schemas.openxmlformats.org/drawingml/2006/main">
              <a:ext uri="{FF2B5EF4-FFF2-40B4-BE49-F238E27FC236}">
                <a16:creationId xmlns:a16="http://schemas.microsoft.com/office/drawing/2014/main" id="{3D9E7127-9633-4368-9EFB-6D44D7B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810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Проверяет выполненную работу и фиксирует итог приёмки.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96C81-92D2-41BA-ADE6-CC8FE7F9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905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104-562">
            <a:extLst xmlns:a="http://schemas.openxmlformats.org/drawingml/2006/main">
              <a:ext uri="{FF2B5EF4-FFF2-40B4-BE49-F238E27FC236}">
                <a16:creationId xmlns:a16="http://schemas.microsoft.com/office/drawing/2014/main" id="{60FAB745-B874-4154-B21A-2935A44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3486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Один интерфейс · разные полномочия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787A3-89F0-4D0C-AA44-9DC17D2A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85900"/>
            <a:ext cx="3048000" cy="4953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e1c27cc98450f"/>
          <a:stretch xmlns:a="http://schemas.openxmlformats.org/drawingml/2006/main"/>
        </p:blipFill>
        <p:spPr>
          <a:xfrm xmlns:a="http://schemas.openxmlformats.org/drawingml/2006/main">
            <a:off x="6797919" y="1562100"/>
            <a:ext cx="2215662" cy="4800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987625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EB4B5E-EBE5-408C-9A67-8B3FAD64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FE1756D6-74B6-4378-ADA7-23FF2B5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D1F6082C-83A8-495A-9C4D-0EAAA6F9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Смена: понятная отправная точка рабочего дня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89D07017-F2CC-4ECF-8C68-40887E9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Text-70-190">
            <a:extLst xmlns:a="http://schemas.openxmlformats.org/drawingml/2006/main">
              <a:ext uri="{FF2B5EF4-FFF2-40B4-BE49-F238E27FC236}">
                <a16:creationId xmlns:a16="http://schemas.microsoft.com/office/drawing/2014/main" id="{69AF9F01-FC4F-47F0-B196-9E91908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Что видит сотрудник</a:t>
            </a:r>
          </a:p>
        </p:txBody>
      </p:sp>
      <p:sp>
        <p:nvSpPr>
          <p:cNvPr id="7" name="Text-70-250">
            <a:extLst xmlns:a="http://schemas.openxmlformats.org/drawingml/2006/main">
              <a:ext uri="{FF2B5EF4-FFF2-40B4-BE49-F238E27FC236}">
                <a16:creationId xmlns:a16="http://schemas.microsoft.com/office/drawing/2014/main" id="{8B0B166D-F3EE-4D95-A148-6B516441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381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• своё имя и роль
• время смены
• состояние связи
• сколько задач уже выполнено
• ближайшую задачу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C3995-4AD7-4BFC-BFB5-3331252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4476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9" name="Text-92-565">
            <a:extLst xmlns:a="http://schemas.openxmlformats.org/drawingml/2006/main">
              <a:ext uri="{FF2B5EF4-FFF2-40B4-BE49-F238E27FC236}">
                <a16:creationId xmlns:a16="http://schemas.microsoft.com/office/drawing/2014/main" id="{5BA93A22-86D5-4383-ABAD-2EE8BC39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057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Сотруднику не нужно искать, с чего начать.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50A5E-1645-4D2F-A984-B4B177C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66850"/>
            <a:ext cx="3048000" cy="49720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e43ef4a19438c"/>
          <a:stretch xmlns:a="http://schemas.openxmlformats.org/drawingml/2006/main"/>
        </p:blipFill>
        <p:spPr>
          <a:xfrm xmlns:a="http://schemas.openxmlformats.org/drawingml/2006/main">
            <a:off x="7174523" y="1543050"/>
            <a:ext cx="2224454" cy="481965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</p:spTree>
    <p:extLst>
      <p:ext uri="{BB962C8B-B14F-4D97-AF65-F5344CB8AC3E}">
        <p14:creationId xmlns:p14="http://schemas.microsoft.com/office/powerpoint/2010/main" val="5789959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4B065E-0A00-4A85-BA2F-49582138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A19E5DF8-F148-414D-A33F-E161023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AFE87AD0-87D7-4DB4-9776-2964241C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Задачи: очередь работы уже расставлена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5B78E6A8-5E88-4A3D-B4F5-1B82B623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Text-68-186">
            <a:extLst xmlns:a="http://schemas.openxmlformats.org/drawingml/2006/main">
              <a:ext uri="{FF2B5EF4-FFF2-40B4-BE49-F238E27FC236}">
                <a16:creationId xmlns:a16="http://schemas.microsoft.com/office/drawing/2014/main" id="{FDD745DE-7697-4EAB-91CD-4E6392F8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 каждой карточке сразу видно:</a:t>
            </a:r>
          </a:p>
        </p:txBody>
      </p:sp>
      <p:sp>
        <p:nvSpPr>
          <p:cNvPr id="7" name="Text-68-238">
            <a:extLst xmlns:a="http://schemas.openxmlformats.org/drawingml/2006/main">
              <a:ext uri="{FF2B5EF4-FFF2-40B4-BE49-F238E27FC236}">
                <a16:creationId xmlns:a16="http://schemas.microsoft.com/office/drawing/2014/main" id="{A8FCACDF-9D35-49B8-8243-ADCED0E0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время · название · важность · статус · длительность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47700" y="3143250"/>
            <a:ext cx="4953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9" name="Text-68-365">
            <a:extLst xmlns:a="http://schemas.openxmlformats.org/drawingml/2006/main">
              <a:ext uri="{FF2B5EF4-FFF2-40B4-BE49-F238E27FC236}">
                <a16:creationId xmlns:a16="http://schemas.microsoft.com/office/drawing/2014/main" id="{032B57AB-7AAF-4B5A-9E46-AA674A3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9530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Активна только следующая задача. Это помогает соблюдать правильную последовательность и не пропускать обязательные действия.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A4969-63AF-4DE6-AC58-B313CE61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90-574">
            <a:extLst xmlns:a="http://schemas.openxmlformats.org/drawingml/2006/main">
              <a:ext uri="{FF2B5EF4-FFF2-40B4-BE49-F238E27FC236}">
                <a16:creationId xmlns:a16="http://schemas.microsoft.com/office/drawing/2014/main" id="{E2F62026-99A6-46D1-B7B3-74B3501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4533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245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Результат: меньше устных уточнений и случайных пропусков.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B6EF3-EDEC-4EB6-8B86-D7D1758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2857500" cy="49720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4075ae0764c54"/>
          <a:stretch xmlns:a="http://schemas.openxmlformats.org/drawingml/2006/main"/>
        </p:blipFill>
        <p:spPr>
          <a:xfrm xmlns:a="http://schemas.openxmlformats.org/drawingml/2006/main">
            <a:off x="7555523" y="1543050"/>
            <a:ext cx="2224454" cy="4819650"/>
          </a:xfrm>
          <a:prstGeom xmlns:a="http://schemas.openxmlformats.org/drawingml/2006/main" prst="roundRect">
            <a:avLst>
              <a:gd name="adj" fmla="val 4225"/>
            </a:avLst>
          </a:prstGeom>
        </p:spPr>
      </p:pic>
    </p:spTree>
    <p:extLst>
      <p:ext uri="{BB962C8B-B14F-4D97-AF65-F5344CB8AC3E}">
        <p14:creationId xmlns:p14="http://schemas.microsoft.com/office/powerpoint/2010/main" val="1839755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D48CA-C300-4AC9-92A5-EA2EA30A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9A9DD176-4A07-47DF-8EF5-4F253C3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2EC2D95A-75F5-4451-9416-A543903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Выполнение: приложение ведёт сотрудника сверху вниз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EDEEFC2D-4C1B-4F74-B53A-13CDEA2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AD0C-0FE6-4875-BAFD-4876FEB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7" name="Text-58-214">
            <a:extLst xmlns:a="http://schemas.openxmlformats.org/drawingml/2006/main">
              <a:ext uri="{FF2B5EF4-FFF2-40B4-BE49-F238E27FC236}">
                <a16:creationId xmlns:a16="http://schemas.microsoft.com/office/drawing/2014/main" id="{206951DC-E03F-4352-87D6-79EFB36F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Text-130-208">
            <a:extLst xmlns:a="http://schemas.openxmlformats.org/drawingml/2006/main">
              <a:ext uri="{FF2B5EF4-FFF2-40B4-BE49-F238E27FC236}">
                <a16:creationId xmlns:a16="http://schemas.microsoft.com/office/drawing/2014/main" id="{7DA26A4A-3DF5-46EE-8963-62AFA4E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Сначала — рабочий чек‑лист</a:t>
            </a:r>
          </a:p>
        </p:txBody>
      </p:sp>
      <p:sp>
        <p:nvSpPr>
          <p:cNvPr id="9" name="Text-130-255">
            <a:extLst xmlns:a="http://schemas.openxmlformats.org/drawingml/2006/main">
              <a:ext uri="{FF2B5EF4-FFF2-40B4-BE49-F238E27FC236}">
                <a16:creationId xmlns:a16="http://schemas.microsoft.com/office/drawing/2014/main" id="{B21B4018-2D13-40C2-99AD-0AD6975D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4095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Обязательные пункты находятся до формы результата: сотрудник проходит процесс в естественном порядке.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850E-DE86-449A-B182-18E07E4F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1" name="Text-58-422">
            <a:extLst xmlns:a="http://schemas.openxmlformats.org/drawingml/2006/main">
              <a:ext uri="{FF2B5EF4-FFF2-40B4-BE49-F238E27FC236}">
                <a16:creationId xmlns:a16="http://schemas.microsoft.com/office/drawing/2014/main" id="{B3C096D5-FA56-42A4-9B4D-9FB4578C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2" name="Text-130-418">
            <a:extLst xmlns:a="http://schemas.openxmlformats.org/drawingml/2006/main">
              <a:ext uri="{FF2B5EF4-FFF2-40B4-BE49-F238E27FC236}">
                <a16:creationId xmlns:a16="http://schemas.microsoft.com/office/drawing/2014/main" id="{FB5DC45D-27EE-4A7B-96F8-39A7D8C2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56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Затем — комментарий и подтверждение</a:t>
            </a:r>
          </a:p>
        </p:txBody>
      </p:sp>
      <p:sp>
        <p:nvSpPr>
          <p:cNvPr id="13" name="Text-130-465">
            <a:extLst xmlns:a="http://schemas.openxmlformats.org/drawingml/2006/main">
              <a:ext uri="{FF2B5EF4-FFF2-40B4-BE49-F238E27FC236}">
                <a16:creationId xmlns:a16="http://schemas.microsoft.com/office/drawing/2014/main" id="{57CC7553-DD24-4B88-989F-03B95E0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4095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Если есть отклонение, его можно описать и приложить подтверждающие материалы.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18DBB-09ED-4C32-A8F0-9B856549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2af48c505409e"/>
          <a:stretch xmlns:a="http://schemas.openxmlformats.org/drawingml/2006/main"/>
        </p:blipFill>
        <p:spPr>
          <a:xfrm xmlns:a="http://schemas.openxmlformats.org/drawingml/2006/main">
            <a:off x="6321669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F2DD2-D63F-4430-A3CC-6E51BE2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3a4a828574ac1"/>
          <a:stretch xmlns:a="http://schemas.openxmlformats.org/drawingml/2006/main"/>
        </p:blipFill>
        <p:spPr>
          <a:xfrm xmlns:a="http://schemas.openxmlformats.org/drawingml/2006/main">
            <a:off x="90362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157484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0F85F-EF9A-43CA-86B2-89F682F8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0E5A8CBC-41F3-473E-987B-EEFF47B1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DAF175EE-C991-4D21-97A8-621B465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Подтверждение результата: камера, галерея и файлы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9195C5E1-30DB-4D80-A0CF-C56D674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Text-62-194">
            <a:extLst xmlns:a="http://schemas.openxmlformats.org/drawingml/2006/main">
              <a:ext uri="{FF2B5EF4-FFF2-40B4-BE49-F238E27FC236}">
                <a16:creationId xmlns:a16="http://schemas.microsoft.com/office/drawing/2014/main" id="{FCF99B9B-42F0-4319-878F-B360289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Фото / видео</a:t>
            </a:r>
          </a:p>
        </p:txBody>
      </p:sp>
      <p:sp>
        <p:nvSpPr>
          <p:cNvPr id="7" name="Text-62-240">
            <a:extLst xmlns:a="http://schemas.openxmlformats.org/drawingml/2006/main">
              <a:ext uri="{FF2B5EF4-FFF2-40B4-BE49-F238E27FC236}">
                <a16:creationId xmlns:a16="http://schemas.microsoft.com/office/drawing/2014/main" id="{800B4BAA-8AF2-4596-A265-9091DBEE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095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Можно снять материал на месте или выбрать готовый из галереи.</a:t>
            </a:r>
          </a:p>
        </p:txBody>
      </p:sp>
      <p:sp>
        <p:nvSpPr>
          <p:cNvPr id="8" name="Text-62-390">
            <a:extLst xmlns:a="http://schemas.openxmlformats.org/drawingml/2006/main">
              <a:ext uri="{FF2B5EF4-FFF2-40B4-BE49-F238E27FC236}">
                <a16:creationId xmlns:a16="http://schemas.microsoft.com/office/drawing/2014/main" id="{64CBB9A4-D98E-4089-9A94-132ED69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524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Файл</a:t>
            </a:r>
          </a:p>
        </p:txBody>
      </p:sp>
      <p:sp>
        <p:nvSpPr>
          <p:cNvPr id="9" name="Text-62-436">
            <a:extLst xmlns:a="http://schemas.openxmlformats.org/drawingml/2006/main">
              <a:ext uri="{FF2B5EF4-FFF2-40B4-BE49-F238E27FC236}">
                <a16:creationId xmlns:a16="http://schemas.microsoft.com/office/drawing/2014/main" id="{D838EDAD-9EEA-4932-9821-D8F29485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4095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Документ или другой материал прикладывается отдельной кнопкой.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3DB53-0FAB-4BFE-91B8-206B41B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210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82-578">
            <a:extLst xmlns:a="http://schemas.openxmlformats.org/drawingml/2006/main">
              <a:ext uri="{FF2B5EF4-FFF2-40B4-BE49-F238E27FC236}">
                <a16:creationId xmlns:a16="http://schemas.microsoft.com/office/drawing/2014/main" id="{FAD23A10-C854-4B23-B287-52851B05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382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6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Все доказательства остаются рядом с задачей.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2B752-AE3E-4D12-9481-42266AD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131f9716941e2"/>
          <a:stretch xmlns:a="http://schemas.openxmlformats.org/drawingml/2006/main"/>
        </p:blipFill>
        <p:spPr>
          <a:xfrm xmlns:a="http://schemas.openxmlformats.org/drawingml/2006/main">
            <a:off x="6321669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61839-CA4F-4295-B100-9432C29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9062c0f514f31"/>
          <a:stretch xmlns:a="http://schemas.openxmlformats.org/drawingml/2006/main"/>
        </p:blipFill>
        <p:spPr>
          <a:xfrm xmlns:a="http://schemas.openxmlformats.org/drawingml/2006/main">
            <a:off x="90362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3545903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F6B1C-3392-4B8C-B71F-7B632D2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0118A10B-CB17-4FB4-8526-57BA90CA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195C39C1-2792-402D-93D1-25F9DDE1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Контроль связи: уведомления и автономная работа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B8B8D063-F63E-469D-B3C1-48F1EBB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Text-70-186">
            <a:extLst xmlns:a="http://schemas.openxmlformats.org/drawingml/2006/main">
              <a:ext uri="{FF2B5EF4-FFF2-40B4-BE49-F238E27FC236}">
                <a16:creationId xmlns:a16="http://schemas.microsoft.com/office/drawing/2014/main" id="{794B3B0B-0BCE-4105-9F6E-A6831440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Уведомления</a:t>
            </a:r>
          </a:p>
        </p:txBody>
      </p:sp>
      <p:sp>
        <p:nvSpPr>
          <p:cNvPr id="7" name="Text-70-230">
            <a:extLst xmlns:a="http://schemas.openxmlformats.org/drawingml/2006/main">
              <a:ext uri="{FF2B5EF4-FFF2-40B4-BE49-F238E27FC236}">
                <a16:creationId xmlns:a16="http://schemas.microsoft.com/office/drawing/2014/main" id="{6EF8ED9E-9636-4EA2-9E62-1422A43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476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Сотрудник видит важные события и новые назначения в одном месте.</a:t>
            </a:r>
          </a:p>
        </p:txBody>
      </p:sp>
      <p:sp>
        <p:nvSpPr>
          <p:cNvPr id="8" name="Text-70-376">
            <a:extLst xmlns:a="http://schemas.openxmlformats.org/drawingml/2006/main">
              <a:ext uri="{FF2B5EF4-FFF2-40B4-BE49-F238E27FC236}">
                <a16:creationId xmlns:a16="http://schemas.microsoft.com/office/drawing/2014/main" id="{2CC93308-ADB3-49E5-9CD8-A6221A33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Синхронизация</a:t>
            </a:r>
          </a:p>
        </p:txBody>
      </p:sp>
      <p:sp>
        <p:nvSpPr>
          <p:cNvPr id="9" name="Text-70-420">
            <a:extLst xmlns:a="http://schemas.openxmlformats.org/drawingml/2006/main">
              <a:ext uri="{FF2B5EF4-FFF2-40B4-BE49-F238E27FC236}">
                <a16:creationId xmlns:a16="http://schemas.microsoft.com/office/drawing/2014/main" id="{B599BE11-DA4E-404C-97DF-679DF7E3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476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При нестабильном интернете действия сохраняются на устройстве и отправляются, когда связь восстановится.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7285E-2349-4961-AC8A-B66E763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88-585">
            <a:extLst xmlns:a="http://schemas.openxmlformats.org/drawingml/2006/main">
              <a:ext uri="{FF2B5EF4-FFF2-40B4-BE49-F238E27FC236}">
                <a16:creationId xmlns:a16="http://schemas.microsoft.com/office/drawing/2014/main" id="{3E23699B-B6B1-4108-9A14-3ACD3107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413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Работа не останавливается из‑за слабого сигнала.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03A2E-07AA-4348-8CA2-E87CE0FF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66850"/>
            <a:ext cx="2333625" cy="49530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bca9ec8394e59"/>
          <a:stretch xmlns:a="http://schemas.openxmlformats.org/drawingml/2006/main"/>
        </p:blipFill>
        <p:spPr>
          <a:xfrm xmlns:a="http://schemas.openxmlformats.org/drawingml/2006/main">
            <a:off x="6410325" y="1580356"/>
            <a:ext cx="2181225" cy="4725988"/>
          </a:xfrm>
          <a:prstGeom xmlns:a="http://schemas.openxmlformats.org/drawingml/2006/main" prst="roundRect">
            <a:avLst>
              <a:gd name="adj" fmla="val 524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49016-0B1F-45B9-A5B7-C07D239B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66850"/>
            <a:ext cx="2333625" cy="49530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44febac1a4510"/>
          <a:stretch xmlns:a="http://schemas.openxmlformats.org/drawingml/2006/main"/>
        </p:blipFill>
        <p:spPr>
          <a:xfrm xmlns:a="http://schemas.openxmlformats.org/drawingml/2006/main">
            <a:off x="9029700" y="1580356"/>
            <a:ext cx="2181225" cy="4725988"/>
          </a:xfrm>
          <a:prstGeom xmlns:a="http://schemas.openxmlformats.org/drawingml/2006/main" prst="roundRect">
            <a:avLst>
              <a:gd name="adj" fmla="val 5240"/>
            </a:avLst>
          </a:prstGeom>
        </p:spPr>
      </p:pic>
    </p:spTree>
    <p:extLst>
      <p:ext uri="{BB962C8B-B14F-4D97-AF65-F5344CB8AC3E}">
        <p14:creationId xmlns:p14="http://schemas.microsoft.com/office/powerpoint/2010/main" val="2577153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199B3-CEC9-4835-839F-53CA7B90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92B62571-D312-48E9-9EBC-48BF4F6B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10CC0D57-1668-4C27-BA63-6FD4CE9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Приёмка: руководитель видит только готовые результаты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123FF06B-6A6B-4DFA-86A8-479A895E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Text-58-188">
            <a:extLst xmlns:a="http://schemas.openxmlformats.org/drawingml/2006/main">
              <a:ext uri="{FF2B5EF4-FFF2-40B4-BE49-F238E27FC236}">
                <a16:creationId xmlns:a16="http://schemas.microsoft.com/office/drawing/2014/main" id="{7C161469-0510-49D6-AD1B-F15CFDD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Очередь проверки</a:t>
            </a:r>
          </a:p>
        </p:txBody>
      </p:sp>
      <p:sp>
        <p:nvSpPr>
          <p:cNvPr id="7" name="Text-58-232">
            <a:extLst xmlns:a="http://schemas.openxmlformats.org/drawingml/2006/main">
              <a:ext uri="{FF2B5EF4-FFF2-40B4-BE49-F238E27FC236}">
                <a16:creationId xmlns:a16="http://schemas.microsoft.com/office/drawing/2014/main" id="{433F3821-67F7-4E34-AFB7-50D4782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191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Задача появляется здесь после завершения исполнителем.</a:t>
            </a:r>
          </a:p>
        </p:txBody>
      </p:sp>
      <p:sp>
        <p:nvSpPr>
          <p:cNvPr id="8" name="Text-58-364">
            <a:extLst xmlns:a="http://schemas.openxmlformats.org/drawingml/2006/main">
              <a:ext uri="{FF2B5EF4-FFF2-40B4-BE49-F238E27FC236}">
                <a16:creationId xmlns:a16="http://schemas.microsoft.com/office/drawing/2014/main" id="{F820585E-B4AD-4054-B1FA-F226C13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Решение</a:t>
            </a:r>
          </a:p>
        </p:txBody>
      </p:sp>
      <p:sp>
        <p:nvSpPr>
          <p:cNvPr id="9" name="Text-58-408">
            <a:extLst xmlns:a="http://schemas.openxmlformats.org/drawingml/2006/main">
              <a:ext uri="{FF2B5EF4-FFF2-40B4-BE49-F238E27FC236}">
                <a16:creationId xmlns:a16="http://schemas.microsoft.com/office/drawing/2014/main" id="{2B764ACF-A4FC-46D8-883C-D2C88BBD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4333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Технолог просматривает пункты, отмечает отклонения, оставляет комментарий и подтверждает итог.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6B023-C379-420C-9E86-EA46D59B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4333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11" name="Text-78-579">
            <a:extLst xmlns:a="http://schemas.openxmlformats.org/drawingml/2006/main">
              <a:ext uri="{FF2B5EF4-FFF2-40B4-BE49-F238E27FC236}">
                <a16:creationId xmlns:a16="http://schemas.microsoft.com/office/drawing/2014/main" id="{ABD3F8BC-5819-40E1-A4ED-795CB4F3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3952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803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Каждое решение фиксируется в карточке задачи.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C1496-D331-4589-820B-796B3D8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d3dc5e39f427d"/>
          <a:stretch xmlns:a="http://schemas.openxmlformats.org/drawingml/2006/main"/>
        </p:blipFill>
        <p:spPr>
          <a:xfrm xmlns:a="http://schemas.openxmlformats.org/drawingml/2006/main">
            <a:off x="617879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7A330-064C-4418-8464-A56F4BC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381250" cy="4953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e3351a4f4e8f"/>
          <a:stretch xmlns:a="http://schemas.openxmlformats.org/drawingml/2006/main"/>
        </p:blipFill>
        <p:spPr>
          <a:xfrm xmlns:a="http://schemas.openxmlformats.org/drawingml/2006/main">
            <a:off x="8941044" y="1543050"/>
            <a:ext cx="2215662" cy="4800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8643319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F5CDE-A480-4290-BDC3-3BC6977D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AC004FC5-B806-4792-A6F2-9E9F16F1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ABAE5AA0-40FA-4752-8B9A-E138CD7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Дополнительные экраны поддерживают работу на объекте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FE533C63-971F-4C85-A223-E00334F4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9DA50-30F6-4FA0-B3AF-C721FBA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7" name="Text-82-225">
            <a:extLst xmlns:a="http://schemas.openxmlformats.org/drawingml/2006/main">
              <a:ext uri="{FF2B5EF4-FFF2-40B4-BE49-F238E27FC236}">
                <a16:creationId xmlns:a16="http://schemas.microsoft.com/office/drawing/2014/main" id="{A31971B1-D604-4B39-BAFD-68F4391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RFID‑сканирование</a:t>
            </a:r>
          </a:p>
        </p:txBody>
      </p:sp>
      <p:sp>
        <p:nvSpPr>
          <p:cNvPr id="8" name="Text-82-320">
            <a:extLst xmlns:a="http://schemas.openxmlformats.org/drawingml/2006/main">
              <a:ext uri="{FF2B5EF4-FFF2-40B4-BE49-F238E27FC236}">
                <a16:creationId xmlns:a16="http://schemas.microsoft.com/office/drawing/2014/main" id="{29A1B22C-72D6-4F1C-A760-B7DDD10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Быстрая идентификация клетки или животного. Если сканер недоступен, номер можно ввести вручную.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1DEF0-0C0A-47B3-A70E-7D5E6D2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0" name="Text-450-225">
            <a:extLst xmlns:a="http://schemas.openxmlformats.org/drawingml/2006/main">
              <a:ext uri="{FF2B5EF4-FFF2-40B4-BE49-F238E27FC236}">
                <a16:creationId xmlns:a16="http://schemas.microsoft.com/office/drawing/2014/main" id="{93F8AE03-D5C1-46B2-86AF-34CA6E9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История животного</a:t>
            </a:r>
          </a:p>
        </p:txBody>
      </p:sp>
      <p:sp>
        <p:nvSpPr>
          <p:cNvPr id="11" name="Text-450-320">
            <a:extLst xmlns:a="http://schemas.openxmlformats.org/drawingml/2006/main">
              <a:ext uri="{FF2B5EF4-FFF2-40B4-BE49-F238E27FC236}">
                <a16:creationId xmlns:a16="http://schemas.microsoft.com/office/drawing/2014/main" id="{A7A1D07E-C35A-49B2-A9FD-CEBBC9DA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Ключевые сведения и события собраны в одной карточке — без поиска по журналам.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71626-8E22-465F-864C-426A66B8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7F1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3" name="Text-818-225">
            <a:extLst xmlns:a="http://schemas.openxmlformats.org/drawingml/2006/main">
              <a:ext uri="{FF2B5EF4-FFF2-40B4-BE49-F238E27FC236}">
                <a16:creationId xmlns:a16="http://schemas.microsoft.com/office/drawing/2014/main" id="{F39AABC5-6BC0-439F-8038-9070FC8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2686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Карта и профиль</a:t>
            </a:r>
          </a:p>
        </p:txBody>
      </p:sp>
      <p:sp>
        <p:nvSpPr>
          <p:cNvPr id="14" name="Text-818-320">
            <a:extLst xmlns:a="http://schemas.openxmlformats.org/drawingml/2006/main">
              <a:ext uri="{FF2B5EF4-FFF2-40B4-BE49-F238E27FC236}">
                <a16:creationId xmlns:a16="http://schemas.microsoft.com/office/drawing/2014/main" id="{407A847C-58F1-4BE8-8C96-BE8179CE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26860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Предусмотрены в структуре приложения; в основной маршрут текущего показа не входят.</a:t>
            </a:r>
          </a:p>
        </p:txBody>
      </p:sp>
      <p:sp>
        <p:nvSpPr>
          <p:cNvPr id="15" name="Text-72-622">
            <a:extLst xmlns:a="http://schemas.openxmlformats.org/drawingml/2006/main">
              <a:ext uri="{FF2B5EF4-FFF2-40B4-BE49-F238E27FC236}">
                <a16:creationId xmlns:a16="http://schemas.microsoft.com/office/drawing/2014/main" id="{C61D40B6-AC39-477C-B67F-7112F38C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8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Эти сценарии открываются тогда, когда они нужны по ходу конкретной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0328673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2A459-C9C6-4557-8D5E-9699BCA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42-24">
            <a:extLst xmlns:a="http://schemas.openxmlformats.org/drawingml/2006/main">
              <a:ext uri="{FF2B5EF4-FFF2-40B4-BE49-F238E27FC236}">
                <a16:creationId xmlns:a16="http://schemas.microsoft.com/office/drawing/2014/main" id="{BB3AFD94-6360-4565-A8C0-57AB6726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42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РАББИТФАРМ · МОБИЛЬНОЕ ПРИЛОЖЕНИЕ</a:t>
            </a:r>
          </a:p>
        </p:txBody>
      </p:sp>
      <p:sp>
        <p:nvSpPr>
          <p:cNvPr id="3" name="Text-42-62">
            <a:extLst xmlns:a="http://schemas.openxmlformats.org/drawingml/2006/main">
              <a:ext uri="{FF2B5EF4-FFF2-40B4-BE49-F238E27FC236}">
                <a16:creationId xmlns:a16="http://schemas.microsoft.com/office/drawing/2014/main" id="{0F9B7942-D2F3-4938-AB7B-9B1276FD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Роли: единый процесс, разная ответственность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954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1178-674">
            <a:extLst xmlns:a="http://schemas.openxmlformats.org/drawingml/2006/main">
              <a:ext uri="{FF2B5EF4-FFF2-40B4-BE49-F238E27FC236}">
                <a16:creationId xmlns:a16="http://schemas.microsoft.com/office/drawing/2014/main" id="{C2363D24-F30C-4CD6-B373-F6B500AF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57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DF7B8-B92C-4044-9CF4-3240F5D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BC2A1-FC9C-411C-A7A8-CADAE990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8" name="Text-80-235">
            <a:extLst xmlns:a="http://schemas.openxmlformats.org/drawingml/2006/main">
              <a:ext uri="{FF2B5EF4-FFF2-40B4-BE49-F238E27FC236}">
                <a16:creationId xmlns:a16="http://schemas.microsoft.com/office/drawing/2014/main" id="{F45CBD3B-3909-453E-B4A1-ED96CA6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Оператор</a:t>
            </a:r>
          </a:p>
        </p:txBody>
      </p:sp>
      <p:sp>
        <p:nvSpPr>
          <p:cNvPr id="9" name="Text-80-330">
            <a:extLst xmlns:a="http://schemas.openxmlformats.org/drawingml/2006/main">
              <a:ext uri="{FF2B5EF4-FFF2-40B4-BE49-F238E27FC236}">
                <a16:creationId xmlns:a16="http://schemas.microsoft.com/office/drawing/2014/main" id="{50DCD1CD-BDB5-4503-9CF1-C28E063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Выполняет смену и передаёт подтверждённый результат.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07B49-1876-4660-BEC3-58D9847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B1E8-8DA4-4B14-8FFA-B2EF284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2" name="Text-370-235">
            <a:extLst xmlns:a="http://schemas.openxmlformats.org/drawingml/2006/main">
              <a:ext uri="{FF2B5EF4-FFF2-40B4-BE49-F238E27FC236}">
                <a16:creationId xmlns:a16="http://schemas.microsoft.com/office/drawing/2014/main" id="{3E4EE33B-8E9E-4396-B297-BB7B367E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технолог</a:t>
            </a:r>
          </a:p>
        </p:txBody>
      </p:sp>
      <p:sp>
        <p:nvSpPr>
          <p:cNvPr id="13" name="Text-370-330">
            <a:extLst xmlns:a="http://schemas.openxmlformats.org/drawingml/2006/main">
              <a:ext uri="{FF2B5EF4-FFF2-40B4-BE49-F238E27FC236}">
                <a16:creationId xmlns:a16="http://schemas.microsoft.com/office/drawing/2014/main" id="{65678D44-866F-4174-96B3-46D5C6EC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Проверяет качество и фиксирует решение по приёмке.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F0061-7638-4944-A529-7C4F283C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4A8ED-3FC3-4596-A7BF-064E209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16" name="Text-660-235">
            <a:extLst xmlns:a="http://schemas.openxmlformats.org/drawingml/2006/main">
              <a:ext uri="{FF2B5EF4-FFF2-40B4-BE49-F238E27FC236}">
                <a16:creationId xmlns:a16="http://schemas.microsoft.com/office/drawing/2014/main" id="{B4A6BD69-2F0C-4276-AF42-F9138BB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Главный механик</a:t>
            </a:r>
          </a:p>
        </p:txBody>
      </p:sp>
      <p:sp>
        <p:nvSpPr>
          <p:cNvPr id="17" name="Text-660-330">
            <a:extLst xmlns:a="http://schemas.openxmlformats.org/drawingml/2006/main">
              <a:ext uri="{FF2B5EF4-FFF2-40B4-BE49-F238E27FC236}">
                <a16:creationId xmlns:a16="http://schemas.microsoft.com/office/drawing/2014/main" id="{8F48E4D6-17E1-41A2-BB3C-17BA9BB0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 демонстрационном контуре использует общий экран контроля.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7B068-FF0D-4238-9A97-7326AD1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366712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1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1AB90-FABB-4110-A398-C08BAAD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F39"/>
          </a:solidFill>
        </p:spPr>
      </p:sp>
      <p:sp>
        <p:nvSpPr>
          <p:cNvPr id="20" name="Text-950-235">
            <a:extLst xmlns:a="http://schemas.openxmlformats.org/drawingml/2006/main">
              <a:ext uri="{FF2B5EF4-FFF2-40B4-BE49-F238E27FC236}">
                <a16:creationId xmlns:a16="http://schemas.microsoft.com/office/drawing/2014/main" id="{4D1D6D7B-FBE9-411B-8C17-357822D6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0574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Супер‑админ</a:t>
            </a:r>
          </a:p>
        </p:txBody>
      </p:sp>
      <p:sp>
        <p:nvSpPr>
          <p:cNvPr id="21" name="Text-950-330">
            <a:extLst xmlns:a="http://schemas.openxmlformats.org/drawingml/2006/main">
              <a:ext uri="{FF2B5EF4-FFF2-40B4-BE49-F238E27FC236}">
                <a16:creationId xmlns:a16="http://schemas.microsoft.com/office/drawing/2014/main" id="{1042B68F-2E68-4594-A08F-F6B54CB1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574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В демонстрационном контуре использует общий экран контроля.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0E949-7642-44A2-B36C-FFFE15BD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076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2E5"/>
          </a:solidFill>
        </p:spPr>
      </p:sp>
      <p:sp>
        <p:nvSpPr>
          <p:cNvPr id="23" name="Text-82-623">
            <a:extLst xmlns:a="http://schemas.openxmlformats.org/drawingml/2006/main">
              <a:ext uri="{FF2B5EF4-FFF2-40B4-BE49-F238E27FC236}">
                <a16:creationId xmlns:a16="http://schemas.microsoft.com/office/drawing/2014/main" id="{BE58F582-AF72-4B50-83AE-1DE66A2F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1030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На демонстрации показываем полный цикл: оператор выполняет → главный технолог принимает.</a:t>
            </a:r>
          </a:p>
        </p:txBody>
      </p:sp>
    </p:spTree>
    <p:extLst>
      <p:ext uri="{BB962C8B-B14F-4D97-AF65-F5344CB8AC3E}">
        <p14:creationId xmlns:p14="http://schemas.microsoft.com/office/powerpoint/2010/main" val="2877051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D5893A-F19F-45DF-95B2-4C368AE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Text-52-42">
            <a:extLst xmlns:a="http://schemas.openxmlformats.org/drawingml/2006/main">
              <a:ext uri="{FF2B5EF4-FFF2-40B4-BE49-F238E27FC236}">
                <a16:creationId xmlns:a16="http://schemas.microsoft.com/office/drawing/2014/main" id="{4C55CB85-5B01-4BC9-B571-B8C5F82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ИТОГ</a:t>
            </a:r>
          </a:p>
        </p:txBody>
      </p:sp>
      <p:sp>
        <p:nvSpPr>
          <p:cNvPr id="3" name="Text-52-176">
            <a:extLst xmlns:a="http://schemas.openxmlformats.org/drawingml/2006/main">
              <a:ext uri="{FF2B5EF4-FFF2-40B4-BE49-F238E27FC236}">
                <a16:creationId xmlns:a16="http://schemas.microsoft.com/office/drawing/2014/main" id="{D72CFCCF-F9F6-4BF6-8212-7FE3BA5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9144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>
                <a:solidFill>
                  <a:srgbClr val="111711"/>
                </a:solidFill>
                <a:latin typeface="Arial"/>
                <a:ea typeface="Arial"/>
                <a:cs typeface="Arial"/>
              </a:defRPr>
            </a:pPr>
            <a:r>
              <a:t>Работа становится
видимой и управляемой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3857625"/>
            <a:ext cx="10668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D1C5"/>
            </a:solidFill>
            <a:prstDash val="solid"/>
          </a:ln>
        </p:spPr>
      </p:cxnSp>
      <p:sp>
        <p:nvSpPr>
          <p:cNvPr id="5" name="Text-52-450">
            <a:extLst xmlns:a="http://schemas.openxmlformats.org/drawingml/2006/main">
              <a:ext uri="{FF2B5EF4-FFF2-40B4-BE49-F238E27FC236}">
                <a16:creationId xmlns:a16="http://schemas.microsoft.com/office/drawing/2014/main" id="{BDC5CAB9-373B-4D3D-8300-6560BB1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3143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понятный следующий шаг</a:t>
            </a:r>
          </a:p>
        </p:txBody>
      </p:sp>
      <p:sp>
        <p:nvSpPr>
          <p:cNvPr id="6" name="Text-425-450">
            <a:extLst xmlns:a="http://schemas.openxmlformats.org/drawingml/2006/main">
              <a:ext uri="{FF2B5EF4-FFF2-40B4-BE49-F238E27FC236}">
                <a16:creationId xmlns:a16="http://schemas.microsoft.com/office/drawing/2014/main" id="{79AE03D3-B928-4636-A820-4EB798C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86250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подтверждение результата</a:t>
            </a:r>
          </a:p>
        </p:txBody>
      </p:sp>
      <p:sp>
        <p:nvSpPr>
          <p:cNvPr id="7" name="Text-850-450">
            <a:extLst xmlns:a="http://schemas.openxmlformats.org/drawingml/2006/main">
              <a:ext uri="{FF2B5EF4-FFF2-40B4-BE49-F238E27FC236}">
                <a16:creationId xmlns:a16="http://schemas.microsoft.com/office/drawing/2014/main" id="{2A63C042-8F33-4E0C-8F07-5EB3AA3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04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376F39"/>
                </a:solidFill>
                <a:latin typeface="Arial"/>
                <a:ea typeface="Arial"/>
                <a:cs typeface="Arial"/>
              </a:defRPr>
            </a:pPr>
            <a:r>
              <a:t>контроль качества</a:t>
            </a:r>
          </a:p>
        </p:txBody>
      </p:sp>
      <p:sp>
        <p:nvSpPr>
          <p:cNvPr id="8" name="Text-52-612">
            <a:extLst xmlns:a="http://schemas.openxmlformats.org/drawingml/2006/main">
              <a:ext uri="{FF2B5EF4-FFF2-40B4-BE49-F238E27FC236}">
                <a16:creationId xmlns:a16="http://schemas.microsoft.com/office/drawing/2014/main" id="{6AE3FC83-3CBD-42D9-9805-7C7B713F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809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515A51"/>
                </a:solidFill>
                <a:latin typeface="Arial"/>
                <a:ea typeface="Arial"/>
                <a:cs typeface="Arial"/>
              </a:defRPr>
            </a:pPr>
            <a:r>
              <a:t>Спасибо — готовы пройти сценарий вживую</a:t>
            </a:r>
          </a:p>
        </p:txBody>
      </p:sp>
    </p:spTree>
    <p:extLst>
      <p:ext uri="{BB962C8B-B14F-4D97-AF65-F5344CB8AC3E}">
        <p14:creationId xmlns:p14="http://schemas.microsoft.com/office/powerpoint/2010/main" val="317723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2026-07-15T07:44:13.3250000Z</dcterms:created>
  <dcterms:modified xsi:type="dcterms:W3CDTF">2026-07-15T07:44:13.3250000Z</dcterms:modified>
</coreProperties>
</file>