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911e038f5478c" /><Relationship Type="http://schemas.openxmlformats.org/officeDocument/2006/relationships/extended-properties" Target="/docProps/app.xml" Id="R26f3b2257cfb4484" /><Relationship Type="http://schemas.openxmlformats.org/officeDocument/2006/relationships/officeDocument" Target="/ppt/presentation.xml" Id="R5c5b2d76063d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c29751d70457f"/>
  </p:sldMasterIdLst>
  <p:notesMasterIdLst>
    <p:notesMasterId xmlns:r="http://schemas.openxmlformats.org/officeDocument/2006/relationships" r:id="R75beb1d7ca924ade"/>
  </p:notesMasterIdLst>
  <p:sldIdLst>
    <p:sldId xmlns:r="http://schemas.openxmlformats.org/officeDocument/2006/relationships" id="256" r:id="Rc3839210e47b4329"/>
    <p:sldId xmlns:r="http://schemas.openxmlformats.org/officeDocument/2006/relationships" id="257" r:id="R14d820a3ad9343df"/>
    <p:sldId xmlns:r="http://schemas.openxmlformats.org/officeDocument/2006/relationships" id="258" r:id="R9be1bb2b100941fb"/>
    <p:sldId xmlns:r="http://schemas.openxmlformats.org/officeDocument/2006/relationships" id="259" r:id="Rddd72b2c158348f6"/>
    <p:sldId xmlns:r="http://schemas.openxmlformats.org/officeDocument/2006/relationships" id="260" r:id="Rdacc2b63c8554b62"/>
    <p:sldId xmlns:r="http://schemas.openxmlformats.org/officeDocument/2006/relationships" id="261" r:id="R8b6402d53cd74032"/>
    <p:sldId xmlns:r="http://schemas.openxmlformats.org/officeDocument/2006/relationships" id="262" r:id="R0f7a27811a5c43fd"/>
    <p:sldId xmlns:r="http://schemas.openxmlformats.org/officeDocument/2006/relationships" id="263" r:id="Rc53d31c0675042db"/>
    <p:sldId xmlns:r="http://schemas.openxmlformats.org/officeDocument/2006/relationships" id="264" r:id="Rf8e5788e4cad4538"/>
    <p:sldId xmlns:r="http://schemas.openxmlformats.org/officeDocument/2006/relationships" id="265" r:id="Rcac321d7e7f84a06"/>
    <p:sldId xmlns:r="http://schemas.openxmlformats.org/officeDocument/2006/relationships" id="266" r:id="Rc9a26d3d6978495b"/>
    <p:sldId xmlns:r="http://schemas.openxmlformats.org/officeDocument/2006/relationships" id="267" r:id="Reb8100ddb7bc43b3"/>
    <p:sldId xmlns:r="http://schemas.openxmlformats.org/officeDocument/2006/relationships" id="268" r:id="R295c06f0a3214c3e"/>
    <p:sldId xmlns:r="http://schemas.openxmlformats.org/officeDocument/2006/relationships" id="269" r:id="Rf0b07b68aceb47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93b05300242fd" /><Relationship Type="http://schemas.openxmlformats.org/officeDocument/2006/relationships/slideMaster" Target="/ppt/slideMasters/slideMaster1.xml" Id="Rae9c29751d70457f" /><Relationship Type="http://schemas.openxmlformats.org/officeDocument/2006/relationships/notesMaster" Target="/ppt/notesMasters/notesMaster1.xml" Id="R75beb1d7ca924ade" /><Relationship Type="http://schemas.openxmlformats.org/officeDocument/2006/relationships/presProps" Target="/ppt/presProps.xml" Id="R32598b9d983643d3" /><Relationship Type="http://schemas.openxmlformats.org/officeDocument/2006/relationships/tableStyles" Target="/ppt/tableStyles.xml" Id="R48e78537ecf24242" /><Relationship Type="http://schemas.openxmlformats.org/officeDocument/2006/relationships/slide" Target="/ppt/slides/slide1.xml" Id="Rc3839210e47b4329" /><Relationship Type="http://schemas.openxmlformats.org/officeDocument/2006/relationships/slide" Target="/ppt/slides/slide2.xml" Id="R14d820a3ad9343df" /><Relationship Type="http://schemas.openxmlformats.org/officeDocument/2006/relationships/slide" Target="/ppt/slides/slide3.xml" Id="R9be1bb2b100941fb" /><Relationship Type="http://schemas.openxmlformats.org/officeDocument/2006/relationships/slide" Target="/ppt/slides/slide4.xml" Id="Rddd72b2c158348f6" /><Relationship Type="http://schemas.openxmlformats.org/officeDocument/2006/relationships/slide" Target="/ppt/slides/slide5.xml" Id="Rdacc2b63c8554b62" /><Relationship Type="http://schemas.openxmlformats.org/officeDocument/2006/relationships/slide" Target="/ppt/slides/slide6.xml" Id="R8b6402d53cd74032" /><Relationship Type="http://schemas.openxmlformats.org/officeDocument/2006/relationships/slide" Target="/ppt/slides/slide7.xml" Id="R0f7a27811a5c43fd" /><Relationship Type="http://schemas.openxmlformats.org/officeDocument/2006/relationships/slide" Target="/ppt/slides/slide8.xml" Id="Rc53d31c0675042db" /><Relationship Type="http://schemas.openxmlformats.org/officeDocument/2006/relationships/slide" Target="/ppt/slides/slide9.xml" Id="Rf8e5788e4cad4538" /><Relationship Type="http://schemas.openxmlformats.org/officeDocument/2006/relationships/slide" Target="/ppt/slides/slide10.xml" Id="Rcac321d7e7f84a06" /><Relationship Type="http://schemas.openxmlformats.org/officeDocument/2006/relationships/slide" Target="/ppt/slides/slide11.xml" Id="Rc9a26d3d6978495b" /><Relationship Type="http://schemas.openxmlformats.org/officeDocument/2006/relationships/slide" Target="/ppt/slides/slide12.xml" Id="Reb8100ddb7bc43b3" /><Relationship Type="http://schemas.openxmlformats.org/officeDocument/2006/relationships/slide" Target="/ppt/slides/slide13.xml" Id="R295c06f0a3214c3e" /><Relationship Type="http://schemas.openxmlformats.org/officeDocument/2006/relationships/slide" Target="/ppt/slides/slide14.xml" Id="Rf0b07b68aceb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1b9f61b7d49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b13b2e0eed4bcf" /><Relationship Type="http://schemas.openxmlformats.org/officeDocument/2006/relationships/notesMaster" Target="/ppt/notesMasters/notesMaster1.xml" Id="R9f1b6570100145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0d17dd10ee476c" /><Relationship Type="http://schemas.openxmlformats.org/officeDocument/2006/relationships/notesMaster" Target="/ppt/notesMasters/notesMaster1.xml" Id="Rd34189237748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0e17e2bf74457" /><Relationship Type="http://schemas.openxmlformats.org/officeDocument/2006/relationships/notesMaster" Target="/ppt/notesMasters/notesMaster1.xml" Id="Rb4821c50dc0c46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f4b882d804797" /><Relationship Type="http://schemas.openxmlformats.org/officeDocument/2006/relationships/notesMaster" Target="/ppt/notesMasters/notesMaster1.xml" Id="R629d79bc610247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efb1358d64a6b" /><Relationship Type="http://schemas.openxmlformats.org/officeDocument/2006/relationships/notesMaster" Target="/ppt/notesMasters/notesMaster1.xml" Id="R3278ea393c2f49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3cc0df2b34007" /><Relationship Type="http://schemas.openxmlformats.org/officeDocument/2006/relationships/notesMaster" Target="/ppt/notesMasters/notesMaster1.xml" Id="Rac81404e187c41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41c58640b94b0b" /><Relationship Type="http://schemas.openxmlformats.org/officeDocument/2006/relationships/notesMaster" Target="/ppt/notesMasters/notesMaster1.xml" Id="R939b4e989524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24a36a9f9d4f4a" /><Relationship Type="http://schemas.openxmlformats.org/officeDocument/2006/relationships/notesMaster" Target="/ppt/notesMasters/notesMaster1.xml" Id="R6c413810e5dd42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ba017a969f467f" /><Relationship Type="http://schemas.openxmlformats.org/officeDocument/2006/relationships/notesMaster" Target="/ppt/notesMasters/notesMaster1.xml" Id="Rb4ecbe46c7b44a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299ec6de2d4d7e" /><Relationship Type="http://schemas.openxmlformats.org/officeDocument/2006/relationships/notesMaster" Target="/ppt/notesMasters/notesMaster1.xml" Id="R5eec8c18bb3846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fa394a1e0b440c" /><Relationship Type="http://schemas.openxmlformats.org/officeDocument/2006/relationships/notesMaster" Target="/ppt/notesMasters/notesMaster1.xml" Id="Rb3b995180df342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00c207d5b043ca" /><Relationship Type="http://schemas.openxmlformats.org/officeDocument/2006/relationships/notesMaster" Target="/ppt/notesMasters/notesMaster1.xml" Id="R348eac93e98e49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b3a352e9e64175" /><Relationship Type="http://schemas.openxmlformats.org/officeDocument/2006/relationships/notesMaster" Target="/ppt/notesMasters/notesMaster1.xml" Id="Rb87fd56a047c46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68c038ccfa48b2" /><Relationship Type="http://schemas.openxmlformats.org/officeDocument/2006/relationships/notesMaster" Target="/ppt/notesMasters/notesMaster1.xml" Id="Raa004a042221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56731c1ae44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f43ee6f164745" /><Relationship Type="http://schemas.openxmlformats.org/officeDocument/2006/relationships/slideLayout" Target="/ppt/slideLayouts/slideLayout1.xml" Id="R2bfca51d9d1a47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ca51d9d1a47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af6a55ce742ec" /><Relationship Type="http://schemas.openxmlformats.org/officeDocument/2006/relationships/notesSlide" Target="/ppt/notesSlides/notesSlide1.xml" Id="R0bb71ffb966d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33b5be28444d" /><Relationship Type="http://schemas.openxmlformats.org/officeDocument/2006/relationships/notesSlide" Target="/ppt/notesSlides/notesSlide2.xml" Id="R13f0f8f8c7c14f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6cfaa85ca425a" /><Relationship Type="http://schemas.openxmlformats.org/officeDocument/2006/relationships/image" Target="/ppt/media/image.png" Id="Rd0269cdb605c4310" /><Relationship Type="http://schemas.openxmlformats.org/officeDocument/2006/relationships/notesSlide" Target="/ppt/notesSlides/notesSlide3.xml" Id="Rf611b4b4e00e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7c3052c664ed5" /><Relationship Type="http://schemas.openxmlformats.org/officeDocument/2006/relationships/image" Target="/ppt/media/image2.png" Id="R52d52bfa604a4e64" /><Relationship Type="http://schemas.openxmlformats.org/officeDocument/2006/relationships/notesSlide" Target="/ppt/notesSlides/notesSlide4.xml" Id="R7bec1f303c8f4c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f65fbf47d4aae" /><Relationship Type="http://schemas.openxmlformats.org/officeDocument/2006/relationships/image" Target="/ppt/media/image3.png" Id="R49008a4d6b6a41e9" /><Relationship Type="http://schemas.openxmlformats.org/officeDocument/2006/relationships/notesSlide" Target="/ppt/notesSlides/notesSlide5.xml" Id="R1114fb8f4d4247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e7de47c9a45f8" /><Relationship Type="http://schemas.openxmlformats.org/officeDocument/2006/relationships/image" Target="/ppt/media/image4.png" Id="R83ed864a142a43ce" /><Relationship Type="http://schemas.openxmlformats.org/officeDocument/2006/relationships/image" Target="/ppt/media/image5.png" Id="R9487007b3029484c" /><Relationship Type="http://schemas.openxmlformats.org/officeDocument/2006/relationships/notesSlide" Target="/ppt/notesSlides/notesSlide6.xml" Id="Re65650e359e24b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2c3731fbb4496" /><Relationship Type="http://schemas.openxmlformats.org/officeDocument/2006/relationships/image" Target="/ppt/media/image6.png" Id="R099c38b659214a50" /><Relationship Type="http://schemas.openxmlformats.org/officeDocument/2006/relationships/image" Target="/ppt/media/image7.png" Id="Ra4d6955829f3458e" /><Relationship Type="http://schemas.openxmlformats.org/officeDocument/2006/relationships/notesSlide" Target="/ppt/notesSlides/notesSlide7.xml" Id="R6dedbd1cd4ba44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e300d160c4729" /><Relationship Type="http://schemas.openxmlformats.org/officeDocument/2006/relationships/image" Target="/ppt/media/image8.png" Id="R3dc6f7bfd025418f" /><Relationship Type="http://schemas.openxmlformats.org/officeDocument/2006/relationships/image" Target="/ppt/media/image9.png" Id="Rf429e1d5b2294124" /><Relationship Type="http://schemas.openxmlformats.org/officeDocument/2006/relationships/notesSlide" Target="/ppt/notesSlides/notesSlide8.xml" Id="R4fe524f1a3ca43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a95ea025c4db3" /><Relationship Type="http://schemas.openxmlformats.org/officeDocument/2006/relationships/image" Target="/ppt/media/image10.png" Id="R848af2b9bfeb4c0b" /><Relationship Type="http://schemas.openxmlformats.org/officeDocument/2006/relationships/image" Target="/ppt/media/image11.png" Id="R12c87ebdcce44021" /><Relationship Type="http://schemas.openxmlformats.org/officeDocument/2006/relationships/notesSlide" Target="/ppt/notesSlides/notesSlide9.xml" Id="Rb8eeeffab7df4a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6f983a98a49d3" /><Relationship Type="http://schemas.openxmlformats.org/officeDocument/2006/relationships/image" Target="/ppt/media/image12.png" Id="Rcd682a42f3834dde" /><Relationship Type="http://schemas.openxmlformats.org/officeDocument/2006/relationships/image" Target="/ppt/media/image13.png" Id="R7b76812740e84853" /><Relationship Type="http://schemas.openxmlformats.org/officeDocument/2006/relationships/notesSlide" Target="/ppt/notesSlides/notesSlide10.xml" Id="Rab5a6cbe38134b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5de6c61a84603" /><Relationship Type="http://schemas.openxmlformats.org/officeDocument/2006/relationships/image" Target="/ppt/media/image14.png" Id="Reab3f961d7aa4b05" /><Relationship Type="http://schemas.openxmlformats.org/officeDocument/2006/relationships/image" Target="/ppt/media/image15.png" Id="R4d56bfe3f53c442a" /><Relationship Type="http://schemas.openxmlformats.org/officeDocument/2006/relationships/notesSlide" Target="/ppt/notesSlides/notesSlide11.xml" Id="R42dedbe2fe9a46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b68d5b1154be6" /><Relationship Type="http://schemas.openxmlformats.org/officeDocument/2006/relationships/notesSlide" Target="/ppt/notesSlides/notesSlide12.xml" Id="R8f9c18b2aeeb4f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bfc04fa1e45c1" /><Relationship Type="http://schemas.openxmlformats.org/officeDocument/2006/relationships/notesSlide" Target="/ppt/notesSlides/notesSlide13.xml" Id="R58d9868c23ee41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3a9eb31bc4c6e" /><Relationship Type="http://schemas.openxmlformats.org/officeDocument/2006/relationships/notesSlide" Target="/ppt/notesSlides/notesSlide14.xml" Id="R395377f9501d4d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DA933-3AB5-46C7-BE17-7A31EB54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45D60-843D-47B2-A712-E980E81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3" name="Text-52-40">
            <a:extLst xmlns:a="http://schemas.openxmlformats.org/drawingml/2006/main">
              <a:ext uri="{FF2B5EF4-FFF2-40B4-BE49-F238E27FC236}">
                <a16:creationId xmlns:a16="http://schemas.microsoft.com/office/drawing/2014/main" id="{0D57B40E-82B4-47EF-86CE-C568DDE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ПРЕДПОКАЗ · 2026</a:t>
            </a:r>
          </a:p>
        </p:txBody>
      </p:sp>
      <p:sp>
        <p:nvSpPr>
          <p:cNvPr id="4" name="Text-52-190">
            <a:extLst xmlns:a="http://schemas.openxmlformats.org/drawingml/2006/main">
              <a:ext uri="{FF2B5EF4-FFF2-40B4-BE49-F238E27FC236}">
                <a16:creationId xmlns:a16="http://schemas.microsoft.com/office/drawing/2014/main" id="{79A6D1AF-D65E-405B-8EA1-60B9FF0B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876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РаббитФарм</a:t>
            </a:r>
          </a:p>
        </p:txBody>
      </p:sp>
      <p:sp>
        <p:nvSpPr>
          <p:cNvPr id="5" name="Text-52-300">
            <a:extLst xmlns:a="http://schemas.openxmlformats.org/drawingml/2006/main">
              <a:ext uri="{FF2B5EF4-FFF2-40B4-BE49-F238E27FC236}">
                <a16:creationId xmlns:a16="http://schemas.microsoft.com/office/drawing/2014/main" id="{559A3C97-E71A-4178-BBD9-587585F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819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Мобильное рабочее место фермы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3733800"/>
            <a:ext cx="10668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7" name="Text-52-438">
            <a:extLst xmlns:a="http://schemas.openxmlformats.org/drawingml/2006/main">
              <a:ext uri="{FF2B5EF4-FFF2-40B4-BE49-F238E27FC236}">
                <a16:creationId xmlns:a16="http://schemas.microsoft.com/office/drawing/2014/main" id="{BC773638-8881-4BFF-9815-9AEB569B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685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От плана смены — к подтверждённому результату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024C9-AA56-412D-90A2-5FADFD2C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9" name="Text-944-465">
            <a:extLst xmlns:a="http://schemas.openxmlformats.org/drawingml/2006/main">
              <a:ext uri="{FF2B5EF4-FFF2-40B4-BE49-F238E27FC236}">
                <a16:creationId xmlns:a16="http://schemas.microsoft.com/office/drawing/2014/main" id="{86ABEEB8-C8FE-4FF1-BDD7-6AC0E00B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192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оператор → контроль</a:t>
            </a:r>
          </a:p>
        </p:txBody>
      </p:sp>
      <p:sp>
        <p:nvSpPr>
          <p:cNvPr id="10" name="Text-52-642">
            <a:extLst xmlns:a="http://schemas.openxmlformats.org/drawingml/2006/main">
              <a:ext uri="{FF2B5EF4-FFF2-40B4-BE49-F238E27FC236}">
                <a16:creationId xmlns:a16="http://schemas.microsoft.com/office/drawing/2014/main" id="{2CE05539-A7DF-4D0E-9AF0-4D099BF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Короткая демонстрация для команды и заказчика</a:t>
            </a:r>
          </a:p>
        </p:txBody>
      </p:sp>
    </p:spTree>
    <p:extLst>
      <p:ext uri="{BB962C8B-B14F-4D97-AF65-F5344CB8AC3E}">
        <p14:creationId xmlns:p14="http://schemas.microsoft.com/office/powerpoint/2010/main" val="503033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0B9E2-FE70-424E-B0A1-EEAF4CEA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22B6A5CB-1435-4AC3-BCAE-F5228C1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C3CB91D5-11C8-4584-A237-DC3B5A0A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Один рабочий процесс — без разрывов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2AFFC41-59E8-4998-864C-20FE4C6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876300" y="3333750"/>
            <a:ext cx="10382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6F3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F0FC3-CCCC-4784-A216-4EBB7BAF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8" name="Text-92-334">
            <a:extLst xmlns:a="http://schemas.openxmlformats.org/drawingml/2006/main">
              <a:ext uri="{FF2B5EF4-FFF2-40B4-BE49-F238E27FC236}">
                <a16:creationId xmlns:a16="http://schemas.microsoft.com/office/drawing/2014/main" id="{4C959EA8-3E1C-42A2-A5E4-FD3CAAB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92-410">
            <a:extLst xmlns:a="http://schemas.openxmlformats.org/drawingml/2006/main">
              <a:ext uri="{FF2B5EF4-FFF2-40B4-BE49-F238E27FC236}">
                <a16:creationId xmlns:a16="http://schemas.microsoft.com/office/drawing/2014/main" id="{9DB2F3F3-5E94-4853-9777-9810082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Начать смену</a:t>
            </a:r>
          </a:p>
        </p:txBody>
      </p:sp>
      <p:sp>
        <p:nvSpPr>
          <p:cNvPr id="10" name="Text-92-460">
            <a:extLst xmlns:a="http://schemas.openxmlformats.org/drawingml/2006/main">
              <a:ext uri="{FF2B5EF4-FFF2-40B4-BE49-F238E27FC236}">
                <a16:creationId xmlns:a16="http://schemas.microsoft.com/office/drawing/2014/main" id="{9B44CA48-49AF-4A30-A577-68A89A8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Увидеть план и приоритеты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6B57E-9256-42D2-9367-DDED85A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2" name="Text-365-334">
            <a:extLst xmlns:a="http://schemas.openxmlformats.org/drawingml/2006/main">
              <a:ext uri="{FF2B5EF4-FFF2-40B4-BE49-F238E27FC236}">
                <a16:creationId xmlns:a16="http://schemas.microsoft.com/office/drawing/2014/main" id="{24B6C3EE-9BDF-4F47-B590-5D8326B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Text-365-410">
            <a:extLst xmlns:a="http://schemas.openxmlformats.org/drawingml/2006/main">
              <a:ext uri="{FF2B5EF4-FFF2-40B4-BE49-F238E27FC236}">
                <a16:creationId xmlns:a16="http://schemas.microsoft.com/office/drawing/2014/main" id="{7B9100BD-73D8-4A0F-A9BE-24D2BFD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Выполнить</a:t>
            </a:r>
          </a:p>
        </p:txBody>
      </p:sp>
      <p:sp>
        <p:nvSpPr>
          <p:cNvPr id="14" name="Text-365-460">
            <a:extLst xmlns:a="http://schemas.openxmlformats.org/drawingml/2006/main">
              <a:ext uri="{FF2B5EF4-FFF2-40B4-BE49-F238E27FC236}">
                <a16:creationId xmlns:a16="http://schemas.microsoft.com/office/drawing/2014/main" id="{21627AEF-2E96-48BE-8562-65C80605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Пройти задачу по шагам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D22E8-6CE5-43A0-9E76-DAD5B0C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6" name="Text-638-334">
            <a:extLst xmlns:a="http://schemas.openxmlformats.org/drawingml/2006/main">
              <a:ext uri="{FF2B5EF4-FFF2-40B4-BE49-F238E27FC236}">
                <a16:creationId xmlns:a16="http://schemas.microsoft.com/office/drawing/2014/main" id="{4F2617DD-B31A-47C1-AE72-4D39E853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-638-410">
            <a:extLst xmlns:a="http://schemas.openxmlformats.org/drawingml/2006/main">
              <a:ext uri="{FF2B5EF4-FFF2-40B4-BE49-F238E27FC236}">
                <a16:creationId xmlns:a16="http://schemas.microsoft.com/office/drawing/2014/main" id="{387FFFB2-5D57-477B-8785-704368D5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Подтвердить</a:t>
            </a:r>
          </a:p>
        </p:txBody>
      </p:sp>
      <p:sp>
        <p:nvSpPr>
          <p:cNvPr id="18" name="Text-638-460">
            <a:extLst xmlns:a="http://schemas.openxmlformats.org/drawingml/2006/main">
              <a:ext uri="{FF2B5EF4-FFF2-40B4-BE49-F238E27FC236}">
                <a16:creationId xmlns:a16="http://schemas.microsoft.com/office/drawing/2014/main" id="{B16C5380-B8D4-4DEB-BC84-E16A3C0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Добавить фото, видео или файл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CAE08-645C-474C-857C-696D037C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20" name="Text-911-334">
            <a:extLst xmlns:a="http://schemas.openxmlformats.org/drawingml/2006/main">
              <a:ext uri="{FF2B5EF4-FFF2-40B4-BE49-F238E27FC236}">
                <a16:creationId xmlns:a16="http://schemas.microsoft.com/office/drawing/2014/main" id="{854F7118-A275-4763-AF42-8881378B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Text-911-410">
            <a:extLst xmlns:a="http://schemas.openxmlformats.org/drawingml/2006/main">
              <a:ext uri="{FF2B5EF4-FFF2-40B4-BE49-F238E27FC236}">
                <a16:creationId xmlns:a16="http://schemas.microsoft.com/office/drawing/2014/main" id="{A2DB9EEF-6CEB-4C95-BC3C-DC32C97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Проверить</a:t>
            </a:r>
          </a:p>
        </p:txBody>
      </p:sp>
      <p:sp>
        <p:nvSpPr>
          <p:cNvPr id="22" name="Text-911-460">
            <a:extLst xmlns:a="http://schemas.openxmlformats.org/drawingml/2006/main">
              <a:ext uri="{FF2B5EF4-FFF2-40B4-BE49-F238E27FC236}">
                <a16:creationId xmlns:a16="http://schemas.microsoft.com/office/drawing/2014/main" id="{5EAFE260-EDB8-44A2-8559-CBBE7CA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Принять результат или вернуть замечание</a:t>
            </a:r>
          </a:p>
        </p:txBody>
      </p:sp>
      <p:sp>
        <p:nvSpPr>
          <p:cNvPr id="23" name="Text-92-590">
            <a:extLst xmlns:a="http://schemas.openxmlformats.org/drawingml/2006/main">
              <a:ext uri="{FF2B5EF4-FFF2-40B4-BE49-F238E27FC236}">
                <a16:creationId xmlns:a16="http://schemas.microsoft.com/office/drawing/2014/main" id="{1EF409F2-D44A-4A00-9EE9-866314EF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Главная ценность: человек видит следующий понятный шаг, а руководитель — подтверждённый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33306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4156D-EC3B-4663-878B-BD6DC3E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CE8717EF-02F7-49E4-B2D8-470159C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80EB0F3B-9FD2-4A43-9E27-95F154D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Вход сразу открывает нужный рабочий сценарий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786CB93-5D3D-444C-8C6D-B1B07E83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Text-82-190">
            <a:extLst xmlns:a="http://schemas.openxmlformats.org/drawingml/2006/main">
              <a:ext uri="{FF2B5EF4-FFF2-40B4-BE49-F238E27FC236}">
                <a16:creationId xmlns:a16="http://schemas.microsoft.com/office/drawing/2014/main" id="{B866593A-5E1C-4E2A-B8CC-7E7F0BC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Оператор</a:t>
            </a:r>
          </a:p>
        </p:txBody>
      </p:sp>
      <p:sp>
        <p:nvSpPr>
          <p:cNvPr id="7" name="Text-82-238">
            <a:extLst xmlns:a="http://schemas.openxmlformats.org/drawingml/2006/main">
              <a:ext uri="{FF2B5EF4-FFF2-40B4-BE49-F238E27FC236}">
                <a16:creationId xmlns:a16="http://schemas.microsoft.com/office/drawing/2014/main" id="{9F508C4C-F8F7-401E-941E-B102CE93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81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Видит смену, свои задачи и форму результата.</a:t>
            </a:r>
          </a:p>
        </p:txBody>
      </p:sp>
      <p:sp>
        <p:nvSpPr>
          <p:cNvPr id="8" name="Text-82-350">
            <a:extLst xmlns:a="http://schemas.openxmlformats.org/drawingml/2006/main">
              <a:ext uri="{FF2B5EF4-FFF2-40B4-BE49-F238E27FC236}">
                <a16:creationId xmlns:a16="http://schemas.microsoft.com/office/drawing/2014/main" id="{81A0F0D2-00C6-42BD-ACDF-B9A4900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технолог</a:t>
            </a:r>
          </a:p>
        </p:txBody>
      </p:sp>
      <p:sp>
        <p:nvSpPr>
          <p:cNvPr id="9" name="Text-82-398">
            <a:extLst xmlns:a="http://schemas.openxmlformats.org/drawingml/2006/main">
              <a:ext uri="{FF2B5EF4-FFF2-40B4-BE49-F238E27FC236}">
                <a16:creationId xmlns:a16="http://schemas.microsoft.com/office/drawing/2014/main" id="{9B0F52D7-DE76-4F57-B72A-6CF0626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810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Проверяет выполненную работу и фиксирует итог приёмки.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15B18-E6B0-4D41-93A6-810E123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905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104-562">
            <a:extLst xmlns:a="http://schemas.openxmlformats.org/drawingml/2006/main">
              <a:ext uri="{FF2B5EF4-FFF2-40B4-BE49-F238E27FC236}">
                <a16:creationId xmlns:a16="http://schemas.microsoft.com/office/drawing/2014/main" id="{C1FAF00A-5F5C-456F-8176-5E12BD7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Один интерфейс · разные полномочия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E6AA3-1681-4BB6-892E-1B48076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3048000" cy="4953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9cdb605c4310"/>
          <a:stretch xmlns:a="http://schemas.openxmlformats.org/drawingml/2006/main"/>
        </p:blipFill>
        <p:spPr>
          <a:xfrm xmlns:a="http://schemas.openxmlformats.org/drawingml/2006/main">
            <a:off x="6797919" y="1562100"/>
            <a:ext cx="2215662" cy="4800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5346263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687AA-69EB-4214-87B2-4C4F08A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62F12F-A908-42C3-AACE-249C52A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98859B4A-C9CC-4458-BD2D-5BD0FCA4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Смена: понятная отправная точка рабочего дня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379A6BCA-F1FD-4E29-9617-CF56F13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Text-70-190">
            <a:extLst xmlns:a="http://schemas.openxmlformats.org/drawingml/2006/main">
              <a:ext uri="{FF2B5EF4-FFF2-40B4-BE49-F238E27FC236}">
                <a16:creationId xmlns:a16="http://schemas.microsoft.com/office/drawing/2014/main" id="{F83F08A4-04CB-4C80-B8C9-80FDBB9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Что видит сотрудник</a:t>
            </a:r>
          </a:p>
        </p:txBody>
      </p:sp>
      <p:sp>
        <p:nvSpPr>
          <p:cNvPr id="7" name="Text-70-250">
            <a:extLst xmlns:a="http://schemas.openxmlformats.org/drawingml/2006/main">
              <a:ext uri="{FF2B5EF4-FFF2-40B4-BE49-F238E27FC236}">
                <a16:creationId xmlns:a16="http://schemas.microsoft.com/office/drawing/2014/main" id="{614AB51F-8E44-4B97-869E-69EE51F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381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• своё имя и роль
• время смены
• состояние связи
• сколько задач уже выполнено
• ближайшую задачу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6E4AF-FBFE-4D9A-AB50-550639A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9" name="Text-92-565">
            <a:extLst xmlns:a="http://schemas.openxmlformats.org/drawingml/2006/main">
              <a:ext uri="{FF2B5EF4-FFF2-40B4-BE49-F238E27FC236}">
                <a16:creationId xmlns:a16="http://schemas.microsoft.com/office/drawing/2014/main" id="{0113FF72-A8A1-4D0A-84B8-B9F474D5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05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Сотруднику не нужно искать, с чего начать.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D6EAC-A1B7-4CF7-A15C-33EE6284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66850"/>
            <a:ext cx="3048000" cy="49720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52bfa604a4e64"/>
          <a:stretch xmlns:a="http://schemas.openxmlformats.org/drawingml/2006/main"/>
        </p:blipFill>
        <p:spPr>
          <a:xfrm xmlns:a="http://schemas.openxmlformats.org/drawingml/2006/main">
            <a:off x="7174523" y="1543050"/>
            <a:ext cx="2224454" cy="481965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3916536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4023B-2178-4EF5-A4C5-6A4C452C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CA700048-AE97-4D51-811F-E10408D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C66A19E5-1429-42A0-BDDF-92357B90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Задачи: очередь работы уже расставлена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F46A67ED-BDB2-4F50-827C-53D46D50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Text-68-186">
            <a:extLst xmlns:a="http://schemas.openxmlformats.org/drawingml/2006/main">
              <a:ext uri="{FF2B5EF4-FFF2-40B4-BE49-F238E27FC236}">
                <a16:creationId xmlns:a16="http://schemas.microsoft.com/office/drawing/2014/main" id="{4FF72570-A81D-463E-ACB2-080C8EF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 каждой карточке сразу видно:</a:t>
            </a:r>
          </a:p>
        </p:txBody>
      </p:sp>
      <p:sp>
        <p:nvSpPr>
          <p:cNvPr id="7" name="Text-68-238">
            <a:extLst xmlns:a="http://schemas.openxmlformats.org/drawingml/2006/main">
              <a:ext uri="{FF2B5EF4-FFF2-40B4-BE49-F238E27FC236}">
                <a16:creationId xmlns:a16="http://schemas.microsoft.com/office/drawing/2014/main" id="{450C2C76-4D34-4141-87C8-64820DCD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время · название · важность · статус · длительность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3143250"/>
            <a:ext cx="495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9" name="Text-68-365">
            <a:extLst xmlns:a="http://schemas.openxmlformats.org/drawingml/2006/main">
              <a:ext uri="{FF2B5EF4-FFF2-40B4-BE49-F238E27FC236}">
                <a16:creationId xmlns:a16="http://schemas.microsoft.com/office/drawing/2014/main" id="{89012165-8D56-49FB-AEA4-16336E10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953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Активна только следующая задача. Это помогает соблюдать правильную последовательность и не пропускать обязательные действия.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09A33-4644-4DD0-A8BF-1E4B062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90-574">
            <a:extLst xmlns:a="http://schemas.openxmlformats.org/drawingml/2006/main">
              <a:ext uri="{FF2B5EF4-FFF2-40B4-BE49-F238E27FC236}">
                <a16:creationId xmlns:a16="http://schemas.microsoft.com/office/drawing/2014/main" id="{1E33BA8B-70EF-463D-B7E6-39D8C78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245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Результат: меньше устных уточнений и случайных пропусков.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1220B-A2B3-4317-9399-FA2C67D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2857500" cy="49720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08a4d6b6a41e9"/>
          <a:stretch xmlns:a="http://schemas.openxmlformats.org/drawingml/2006/main"/>
        </p:blipFill>
        <p:spPr>
          <a:xfrm xmlns:a="http://schemas.openxmlformats.org/drawingml/2006/main">
            <a:off x="7555523" y="1543050"/>
            <a:ext cx="2224454" cy="48196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</p:spTree>
    <p:extLst>
      <p:ext uri="{BB962C8B-B14F-4D97-AF65-F5344CB8AC3E}">
        <p14:creationId xmlns:p14="http://schemas.microsoft.com/office/powerpoint/2010/main" val="7060997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2AA78-CE3E-4DFA-92ED-05AE50A7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2F4850A4-D9AD-4DAC-B44C-B6F733ED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045751D2-4649-48AF-857A-AF84789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Выполнение: приложение ведёт сотрудника сверху вниз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26BFC956-1DEF-4B41-BB00-81DDEF5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8F925-B332-453C-B78A-1B084597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7" name="Text-58-214">
            <a:extLst xmlns:a="http://schemas.openxmlformats.org/drawingml/2006/main">
              <a:ext uri="{FF2B5EF4-FFF2-40B4-BE49-F238E27FC236}">
                <a16:creationId xmlns:a16="http://schemas.microsoft.com/office/drawing/2014/main" id="{9B74A8F6-7589-4E94-9F74-1C750C8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Text-130-208">
            <a:extLst xmlns:a="http://schemas.openxmlformats.org/drawingml/2006/main">
              <a:ext uri="{FF2B5EF4-FFF2-40B4-BE49-F238E27FC236}">
                <a16:creationId xmlns:a16="http://schemas.microsoft.com/office/drawing/2014/main" id="{2C394A5D-E638-4643-B52A-1C6F27C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Сначала — рабочий чек‑лист</a:t>
            </a:r>
          </a:p>
        </p:txBody>
      </p:sp>
      <p:sp>
        <p:nvSpPr>
          <p:cNvPr id="9" name="Text-130-255">
            <a:extLst xmlns:a="http://schemas.openxmlformats.org/drawingml/2006/main">
              <a:ext uri="{FF2B5EF4-FFF2-40B4-BE49-F238E27FC236}">
                <a16:creationId xmlns:a16="http://schemas.microsoft.com/office/drawing/2014/main" id="{7ECEF783-0288-4758-BA9D-3382B419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4095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Обязательные пункты находятся до формы результата: сотрудник проходит процесс в естественном порядке.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3D275-78B4-457B-9E19-71CEE45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1" name="Text-58-422">
            <a:extLst xmlns:a="http://schemas.openxmlformats.org/drawingml/2006/main">
              <a:ext uri="{FF2B5EF4-FFF2-40B4-BE49-F238E27FC236}">
                <a16:creationId xmlns:a16="http://schemas.microsoft.com/office/drawing/2014/main" id="{E85CC256-BE13-4C7F-981B-323DC0E8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130-418">
            <a:extLst xmlns:a="http://schemas.openxmlformats.org/drawingml/2006/main">
              <a:ext uri="{FF2B5EF4-FFF2-40B4-BE49-F238E27FC236}">
                <a16:creationId xmlns:a16="http://schemas.microsoft.com/office/drawing/2014/main" id="{97AE5C4F-5EE5-45DE-99CA-5BC6241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56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Затем — комментарий и подтверждение</a:t>
            </a:r>
          </a:p>
        </p:txBody>
      </p:sp>
      <p:sp>
        <p:nvSpPr>
          <p:cNvPr id="13" name="Text-130-465">
            <a:extLst xmlns:a="http://schemas.openxmlformats.org/drawingml/2006/main">
              <a:ext uri="{FF2B5EF4-FFF2-40B4-BE49-F238E27FC236}">
                <a16:creationId xmlns:a16="http://schemas.microsoft.com/office/drawing/2014/main" id="{D909453E-E5E6-41F8-A6EC-5A36AD2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4095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Если есть отклонение, его можно описать и приложить подтверждающие материалы.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FABC0-5581-45B5-B03B-13548ACC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d864a142a43ce"/>
          <a:stretch xmlns:a="http://schemas.openxmlformats.org/drawingml/2006/main"/>
        </p:blipFill>
        <p:spPr>
          <a:xfrm xmlns:a="http://schemas.openxmlformats.org/drawingml/2006/main">
            <a:off x="6321669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08429-CC56-42F3-A2E2-A298F1B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7007b3029484c"/>
          <a:stretch xmlns:a="http://schemas.openxmlformats.org/drawingml/2006/main"/>
        </p:blipFill>
        <p:spPr>
          <a:xfrm xmlns:a="http://schemas.openxmlformats.org/drawingml/2006/main">
            <a:off x="90362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565612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82E3D-1D08-44C5-A7D2-56D02F46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AB002998-AB6A-49A9-8B1B-5A2AC77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0B1596B7-477A-4012-ABDC-9EB4799D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RFID превращает обход в управляемый список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6AF9328-70BD-467F-8279-0C5558A5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Text-58-190">
            <a:extLst xmlns:a="http://schemas.openxmlformats.org/drawingml/2006/main">
              <a:ext uri="{FF2B5EF4-FFF2-40B4-BE49-F238E27FC236}">
                <a16:creationId xmlns:a16="http://schemas.microsoft.com/office/drawing/2014/main" id="{6FACC569-A96B-4BB4-BC03-3BBE7E84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 чек‑листе уже есть все животные, с которыми нужно провести операцию.</a:t>
            </a:r>
          </a:p>
        </p:txBody>
      </p:sp>
      <p:sp>
        <p:nvSpPr>
          <p:cNvPr id="7" name="Text-58-305">
            <a:extLst xmlns:a="http://schemas.openxmlformats.org/drawingml/2006/main">
              <a:ext uri="{FF2B5EF4-FFF2-40B4-BE49-F238E27FC236}">
                <a16:creationId xmlns:a16="http://schemas.microsoft.com/office/drawing/2014/main" id="{E339ACA2-0C36-462E-9CB2-9E9B3FB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4767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Сотрудник сканирует метку конкретного кролика — приложение узнаёт животное и связывает результат именно с его строкой.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CAD17-329A-431A-B165-5E6AA0C9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4476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9" name="Text-82-528">
            <a:extLst xmlns:a="http://schemas.openxmlformats.org/drawingml/2006/main">
              <a:ext uri="{FF2B5EF4-FFF2-40B4-BE49-F238E27FC236}">
                <a16:creationId xmlns:a16="http://schemas.microsoft.com/office/drawing/2014/main" id="{5D84676B-02E1-42F9-9613-685B932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019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13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Счётчик 0 / 14 показывает объём работы и меняется после каждого подтверждённого скана.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F2B89-217B-483B-80A4-685D350F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38b659214a50"/>
          <a:stretch xmlns:a="http://schemas.openxmlformats.org/drawingml/2006/main"/>
        </p:blipFill>
        <p:spPr>
          <a:xfrm xmlns:a="http://schemas.openxmlformats.org/drawingml/2006/main">
            <a:off x="6274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1D089-726C-4715-82F3-5FE065E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955829f3458e"/>
          <a:stretch xmlns:a="http://schemas.openxmlformats.org/drawingml/2006/main"/>
        </p:blipFill>
        <p:spPr>
          <a:xfrm xmlns:a="http://schemas.openxmlformats.org/drawingml/2006/main">
            <a:off x="8941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1303803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37C93-9A8F-477A-B07B-777E5DF4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92BD0228-7206-4FED-876A-4E512DE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64B68E15-90DC-41E5-9E96-7661AF2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После скана сразу видно, кого обработали, а кого пропустили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23772045-53A1-4A7D-8AF4-13596294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Text-58-190">
            <a:extLst xmlns:a="http://schemas.openxmlformats.org/drawingml/2006/main">
              <a:ext uri="{FF2B5EF4-FFF2-40B4-BE49-F238E27FC236}">
                <a16:creationId xmlns:a16="http://schemas.microsoft.com/office/drawing/2014/main" id="{011DBA90-F34B-49BC-AB5E-0BC8DA3D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Статус меняется автоматически</a:t>
            </a:r>
          </a:p>
        </p:txBody>
      </p:sp>
      <p:sp>
        <p:nvSpPr>
          <p:cNvPr id="7" name="Text-58-242">
            <a:extLst xmlns:a="http://schemas.openxmlformats.org/drawingml/2006/main">
              <a:ext uri="{FF2B5EF4-FFF2-40B4-BE49-F238E27FC236}">
                <a16:creationId xmlns:a16="http://schemas.microsoft.com/office/drawing/2014/main" id="{DDFD8502-0D5B-439D-883B-6DFE8FF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476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Найденный кролик получает статус «Готово», его RFID и результат операции сохраняются в чек‑листе.</a:t>
            </a:r>
          </a:p>
        </p:txBody>
      </p:sp>
      <p:sp>
        <p:nvSpPr>
          <p:cNvPr id="8" name="Text-58-390">
            <a:extLst xmlns:a="http://schemas.openxmlformats.org/drawingml/2006/main">
              <a:ext uri="{FF2B5EF4-FFF2-40B4-BE49-F238E27FC236}">
                <a16:creationId xmlns:a16="http://schemas.microsoft.com/office/drawing/2014/main" id="{465EE0B4-0FCA-4007-8B72-8C8BF4BF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Пропуски не теряются</a:t>
            </a:r>
          </a:p>
        </p:txBody>
      </p:sp>
      <p:sp>
        <p:nvSpPr>
          <p:cNvPr id="9" name="Text-58-442">
            <a:extLst xmlns:a="http://schemas.openxmlformats.org/drawingml/2006/main">
              <a:ext uri="{FF2B5EF4-FFF2-40B4-BE49-F238E27FC236}">
                <a16:creationId xmlns:a16="http://schemas.microsoft.com/office/drawing/2014/main" id="{B65D3F01-CBD5-4E8A-81C4-7FA9FE27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4476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Строки «Ожидает», «Проблема» и «Пропущено» показывают, к каким животным нужно вернуться и по какой причине.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91B34-09A7-4349-818F-9E1C9A4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447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78-599">
            <a:extLst xmlns:a="http://schemas.openxmlformats.org/drawingml/2006/main">
              <a:ext uri="{FF2B5EF4-FFF2-40B4-BE49-F238E27FC236}">
                <a16:creationId xmlns:a16="http://schemas.microsoft.com/office/drawing/2014/main" id="{78E97E34-8016-48DE-9E58-B55E353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464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Так сотруднику проще двигаться по ангару без повторных обходов.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9521A-34C8-46F5-8610-59DC3FE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6f7bfd025418f"/>
          <a:stretch xmlns:a="http://schemas.openxmlformats.org/drawingml/2006/main"/>
        </p:blipFill>
        <p:spPr>
          <a:xfrm xmlns:a="http://schemas.openxmlformats.org/drawingml/2006/main">
            <a:off x="6274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D7237-83C5-4D69-A457-ED8950F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e1d5b2294124"/>
          <a:stretch xmlns:a="http://schemas.openxmlformats.org/drawingml/2006/main"/>
        </p:blipFill>
        <p:spPr>
          <a:xfrm xmlns:a="http://schemas.openxmlformats.org/drawingml/2006/main">
            <a:off x="8941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8151419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8AB39-B545-466A-A633-2D5FA9C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F700FC4C-C1A4-495B-BCEF-98AFDBD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AF620968-B71B-4798-A031-F641F62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Подтверждение результата: камера, галерея и файлы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3F882C28-CC62-4419-800B-6C9E284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Text-62-194">
            <a:extLst xmlns:a="http://schemas.openxmlformats.org/drawingml/2006/main">
              <a:ext uri="{FF2B5EF4-FFF2-40B4-BE49-F238E27FC236}">
                <a16:creationId xmlns:a16="http://schemas.microsoft.com/office/drawing/2014/main" id="{64C10C62-64ED-4F83-B3D2-FD97B36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Фото / видео</a:t>
            </a:r>
          </a:p>
        </p:txBody>
      </p:sp>
      <p:sp>
        <p:nvSpPr>
          <p:cNvPr id="7" name="Text-62-240">
            <a:extLst xmlns:a="http://schemas.openxmlformats.org/drawingml/2006/main">
              <a:ext uri="{FF2B5EF4-FFF2-40B4-BE49-F238E27FC236}">
                <a16:creationId xmlns:a16="http://schemas.microsoft.com/office/drawing/2014/main" id="{0A5B867A-B0B3-4D97-AE9D-49C305B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095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Можно снять материал на месте или выбрать готовый из галереи.</a:t>
            </a:r>
          </a:p>
        </p:txBody>
      </p:sp>
      <p:sp>
        <p:nvSpPr>
          <p:cNvPr id="8" name="Text-62-390">
            <a:extLst xmlns:a="http://schemas.openxmlformats.org/drawingml/2006/main">
              <a:ext uri="{FF2B5EF4-FFF2-40B4-BE49-F238E27FC236}">
                <a16:creationId xmlns:a16="http://schemas.microsoft.com/office/drawing/2014/main" id="{673B7D64-21ED-4472-9D56-545B929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Файл</a:t>
            </a:r>
          </a:p>
        </p:txBody>
      </p:sp>
      <p:sp>
        <p:nvSpPr>
          <p:cNvPr id="9" name="Text-62-436">
            <a:extLst xmlns:a="http://schemas.openxmlformats.org/drawingml/2006/main">
              <a:ext uri="{FF2B5EF4-FFF2-40B4-BE49-F238E27FC236}">
                <a16:creationId xmlns:a16="http://schemas.microsoft.com/office/drawing/2014/main" id="{1D859F93-E4FE-4545-AC28-B461A3D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4095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Документ или другой материал прикладывается отдельной кнопкой.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6BC4E-9F3D-47C7-88BA-A92D96D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210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82-578">
            <a:extLst xmlns:a="http://schemas.openxmlformats.org/drawingml/2006/main">
              <a:ext uri="{FF2B5EF4-FFF2-40B4-BE49-F238E27FC236}">
                <a16:creationId xmlns:a16="http://schemas.microsoft.com/office/drawing/2014/main" id="{D33911FF-1354-4139-9A74-3797E3E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6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Все доказательства остаются рядом с задачей.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DFB34-6279-4A0F-9139-FF8FE53B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af2b9bfeb4c0b"/>
          <a:stretch xmlns:a="http://schemas.openxmlformats.org/drawingml/2006/main"/>
        </p:blipFill>
        <p:spPr>
          <a:xfrm xmlns:a="http://schemas.openxmlformats.org/drawingml/2006/main">
            <a:off x="6321669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C0043-4DDD-4AEC-9332-FE7318E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87ebdcce44021"/>
          <a:stretch xmlns:a="http://schemas.openxmlformats.org/drawingml/2006/main"/>
        </p:blipFill>
        <p:spPr>
          <a:xfrm xmlns:a="http://schemas.openxmlformats.org/drawingml/2006/main">
            <a:off x="90362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088444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7EDDD-B11A-4E41-9F03-8766560F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83E514E9-3527-42CC-9B47-6EC4F2B1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F6C96126-8295-4EFC-B229-60055833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Контроль связи: уведомления и автономная работа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22E7E2B4-CE64-4AB7-880A-90AE8A3E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ext-70-186">
            <a:extLst xmlns:a="http://schemas.openxmlformats.org/drawingml/2006/main">
              <a:ext uri="{FF2B5EF4-FFF2-40B4-BE49-F238E27FC236}">
                <a16:creationId xmlns:a16="http://schemas.microsoft.com/office/drawing/2014/main" id="{75CB7661-E8BF-41E3-965C-723C85F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Уведомления</a:t>
            </a:r>
          </a:p>
        </p:txBody>
      </p:sp>
      <p:sp>
        <p:nvSpPr>
          <p:cNvPr id="7" name="Text-70-230">
            <a:extLst xmlns:a="http://schemas.openxmlformats.org/drawingml/2006/main">
              <a:ext uri="{FF2B5EF4-FFF2-40B4-BE49-F238E27FC236}">
                <a16:creationId xmlns:a16="http://schemas.microsoft.com/office/drawing/2014/main" id="{E350F6E4-B486-45A7-A0F1-A2CD027B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47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Сотрудник видит важные события и новые назначения в одном месте.</a:t>
            </a:r>
          </a:p>
        </p:txBody>
      </p:sp>
      <p:sp>
        <p:nvSpPr>
          <p:cNvPr id="8" name="Text-70-376">
            <a:extLst xmlns:a="http://schemas.openxmlformats.org/drawingml/2006/main">
              <a:ext uri="{FF2B5EF4-FFF2-40B4-BE49-F238E27FC236}">
                <a16:creationId xmlns:a16="http://schemas.microsoft.com/office/drawing/2014/main" id="{2756F57B-8B63-4700-A4B1-85A95EB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Синхронизация</a:t>
            </a:r>
          </a:p>
        </p:txBody>
      </p:sp>
      <p:sp>
        <p:nvSpPr>
          <p:cNvPr id="9" name="Text-70-420">
            <a:extLst xmlns:a="http://schemas.openxmlformats.org/drawingml/2006/main">
              <a:ext uri="{FF2B5EF4-FFF2-40B4-BE49-F238E27FC236}">
                <a16:creationId xmlns:a16="http://schemas.microsoft.com/office/drawing/2014/main" id="{86957F20-AC9B-40DD-8C3F-A0A4147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476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При нестабильном интернете действия сохраняются на устройстве и отправляются, когда связь восстановится.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853CD-2C24-4266-8967-DEA6B63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88-585">
            <a:extLst xmlns:a="http://schemas.openxmlformats.org/drawingml/2006/main">
              <a:ext uri="{FF2B5EF4-FFF2-40B4-BE49-F238E27FC236}">
                <a16:creationId xmlns:a16="http://schemas.microsoft.com/office/drawing/2014/main" id="{50D18E81-9B09-4339-B6B9-CD33E9F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413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Работа не останавливается из‑за слабого сигнала.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F8557-51BA-4313-AC11-67CDADE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66850"/>
            <a:ext cx="2333625" cy="49530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82a42f3834dde"/>
          <a:stretch xmlns:a="http://schemas.openxmlformats.org/drawingml/2006/main"/>
        </p:blipFill>
        <p:spPr>
          <a:xfrm xmlns:a="http://schemas.openxmlformats.org/drawingml/2006/main">
            <a:off x="6410325" y="1580356"/>
            <a:ext cx="2181225" cy="4725988"/>
          </a:xfrm>
          <a:prstGeom xmlns:a="http://schemas.openxmlformats.org/drawingml/2006/main" prst="roundRect">
            <a:avLst>
              <a:gd name="adj" fmla="val 524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EE9C4-E2D3-4415-8FE3-DE206C1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33625" cy="49530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6812740e84853"/>
          <a:stretch xmlns:a="http://schemas.openxmlformats.org/drawingml/2006/main"/>
        </p:blipFill>
        <p:spPr>
          <a:xfrm xmlns:a="http://schemas.openxmlformats.org/drawingml/2006/main">
            <a:off x="9029700" y="1580356"/>
            <a:ext cx="2181225" cy="4725988"/>
          </a:xfrm>
          <a:prstGeom xmlns:a="http://schemas.openxmlformats.org/drawingml/2006/main" prst="roundRect">
            <a:avLst>
              <a:gd name="adj" fmla="val 5240"/>
            </a:avLst>
          </a:prstGeom>
        </p:spPr>
      </p:pic>
    </p:spTree>
    <p:extLst>
      <p:ext uri="{BB962C8B-B14F-4D97-AF65-F5344CB8AC3E}">
        <p14:creationId xmlns:p14="http://schemas.microsoft.com/office/powerpoint/2010/main" val="13182928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A2B30-A355-40A9-A6AA-187F564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44B30243-A580-41A8-8CA8-F2F755F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8789C4D0-7A01-415E-AF22-DE2060D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Приёмка: руководитель видит только готовые результаты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C958A54-76BB-407F-B1B0-93D6CBF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Text-58-188">
            <a:extLst xmlns:a="http://schemas.openxmlformats.org/drawingml/2006/main">
              <a:ext uri="{FF2B5EF4-FFF2-40B4-BE49-F238E27FC236}">
                <a16:creationId xmlns:a16="http://schemas.microsoft.com/office/drawing/2014/main" id="{EF335FC8-8824-48CC-84F8-9445EE68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Очередь проверки</a:t>
            </a:r>
          </a:p>
        </p:txBody>
      </p:sp>
      <p:sp>
        <p:nvSpPr>
          <p:cNvPr id="7" name="Text-58-232">
            <a:extLst xmlns:a="http://schemas.openxmlformats.org/drawingml/2006/main">
              <a:ext uri="{FF2B5EF4-FFF2-40B4-BE49-F238E27FC236}">
                <a16:creationId xmlns:a16="http://schemas.microsoft.com/office/drawing/2014/main" id="{27775F7F-0C0C-4333-8110-6608EC8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191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Задача появляется здесь после завершения исполнителем.</a:t>
            </a:r>
          </a:p>
        </p:txBody>
      </p:sp>
      <p:sp>
        <p:nvSpPr>
          <p:cNvPr id="8" name="Text-58-364">
            <a:extLst xmlns:a="http://schemas.openxmlformats.org/drawingml/2006/main">
              <a:ext uri="{FF2B5EF4-FFF2-40B4-BE49-F238E27FC236}">
                <a16:creationId xmlns:a16="http://schemas.microsoft.com/office/drawing/2014/main" id="{58DDB2FC-3A0F-4794-B19E-DEB9629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Решение</a:t>
            </a:r>
          </a:p>
        </p:txBody>
      </p:sp>
      <p:sp>
        <p:nvSpPr>
          <p:cNvPr id="9" name="Text-58-408">
            <a:extLst xmlns:a="http://schemas.openxmlformats.org/drawingml/2006/main">
              <a:ext uri="{FF2B5EF4-FFF2-40B4-BE49-F238E27FC236}">
                <a16:creationId xmlns:a16="http://schemas.microsoft.com/office/drawing/2014/main" id="{C8384A67-0FCE-4B1B-BE13-4ADC052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333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Технолог просматривает пункты, отмечает отклонения, оставляет комментарий и подтверждает итог.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76E5F-499E-4668-8B7C-BC341D92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433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78-579">
            <a:extLst xmlns:a="http://schemas.openxmlformats.org/drawingml/2006/main">
              <a:ext uri="{FF2B5EF4-FFF2-40B4-BE49-F238E27FC236}">
                <a16:creationId xmlns:a16="http://schemas.microsoft.com/office/drawing/2014/main" id="{ADE27A6D-CAE8-4AE1-BCB3-5D07236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3952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803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Каждое решение фиксируется в карточке задачи.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5A8F7-C49D-4395-B4CD-3D8F77D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3f961d7aa4b05"/>
          <a:stretch xmlns:a="http://schemas.openxmlformats.org/drawingml/2006/main"/>
        </p:blipFill>
        <p:spPr>
          <a:xfrm xmlns:a="http://schemas.openxmlformats.org/drawingml/2006/main">
            <a:off x="61787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74EB0-99B2-49FB-AAD4-7F6E702B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6bfe3f53c442a"/>
          <a:stretch xmlns:a="http://schemas.openxmlformats.org/drawingml/2006/main"/>
        </p:blipFill>
        <p:spPr>
          <a:xfrm xmlns:a="http://schemas.openxmlformats.org/drawingml/2006/main">
            <a:off x="8941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839260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CEBB8A-6955-4255-9F20-134C176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48BB3BE6-FF88-4AD4-9F85-593966F6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027A44CB-D203-431F-BC0B-06390CDA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Дополнительные экраны поддерживают работу на объекте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845153D2-28EC-4B17-8352-E2E89F0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7B55D-9945-4AAD-8EFE-25C9FA5A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7" name="Text-82-225">
            <a:extLst xmlns:a="http://schemas.openxmlformats.org/drawingml/2006/main">
              <a:ext uri="{FF2B5EF4-FFF2-40B4-BE49-F238E27FC236}">
                <a16:creationId xmlns:a16="http://schemas.microsoft.com/office/drawing/2014/main" id="{6A6DB706-3EB6-4A57-8C51-CF0FA9E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История животного</a:t>
            </a:r>
          </a:p>
        </p:txBody>
      </p:sp>
      <p:sp>
        <p:nvSpPr>
          <p:cNvPr id="8" name="Text-82-320">
            <a:extLst xmlns:a="http://schemas.openxmlformats.org/drawingml/2006/main">
              <a:ext uri="{FF2B5EF4-FFF2-40B4-BE49-F238E27FC236}">
                <a16:creationId xmlns:a16="http://schemas.microsoft.com/office/drawing/2014/main" id="{F5ACD8D6-28BE-4A33-B36F-BE33B52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Ключевые сведения и события собраны в одной карточке — без поиска по журналам.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0F930-3F2E-4106-8EDB-B83D024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0" name="Text-450-225">
            <a:extLst xmlns:a="http://schemas.openxmlformats.org/drawingml/2006/main">
              <a:ext uri="{FF2B5EF4-FFF2-40B4-BE49-F238E27FC236}">
                <a16:creationId xmlns:a16="http://schemas.microsoft.com/office/drawing/2014/main" id="{72D9F5B1-498C-43D7-AA1B-63581CE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Карта</a:t>
            </a:r>
          </a:p>
        </p:txBody>
      </p:sp>
      <p:sp>
        <p:nvSpPr>
          <p:cNvPr id="11" name="Text-450-320">
            <a:extLst xmlns:a="http://schemas.openxmlformats.org/drawingml/2006/main">
              <a:ext uri="{FF2B5EF4-FFF2-40B4-BE49-F238E27FC236}">
                <a16:creationId xmlns:a16="http://schemas.microsoft.com/office/drawing/2014/main" id="{9C6076D3-6194-4DE8-B430-BC0BDC4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Предусмотрена для ориентации по объектам фермы; в основной маршрут текущего показа не входит.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75A72-34D9-47A3-B256-84EC8F80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3" name="Text-818-225">
            <a:extLst xmlns:a="http://schemas.openxmlformats.org/drawingml/2006/main">
              <a:ext uri="{FF2B5EF4-FFF2-40B4-BE49-F238E27FC236}">
                <a16:creationId xmlns:a16="http://schemas.microsoft.com/office/drawing/2014/main" id="{3E8CDD59-3D4B-4341-A8FB-5DE218C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Профиль</a:t>
            </a:r>
          </a:p>
        </p:txBody>
      </p:sp>
      <p:sp>
        <p:nvSpPr>
          <p:cNvPr id="14" name="Text-818-320">
            <a:extLst xmlns:a="http://schemas.openxmlformats.org/drawingml/2006/main">
              <a:ext uri="{FF2B5EF4-FFF2-40B4-BE49-F238E27FC236}">
                <a16:creationId xmlns:a16="http://schemas.microsoft.com/office/drawing/2014/main" id="{25AEC1ED-D9A7-4747-A5DD-A4641DD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Предусмотрен для данных и настроек сотрудника; в основной маршрут текущего показа не входит.</a:t>
            </a:r>
          </a:p>
        </p:txBody>
      </p:sp>
      <p:sp>
        <p:nvSpPr>
          <p:cNvPr id="15" name="Text-72-622">
            <a:extLst xmlns:a="http://schemas.openxmlformats.org/drawingml/2006/main">
              <a:ext uri="{FF2B5EF4-FFF2-40B4-BE49-F238E27FC236}">
                <a16:creationId xmlns:a16="http://schemas.microsoft.com/office/drawing/2014/main" id="{050BF8FA-65BE-4C20-A182-BD1B483A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8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Эти сценарии открываются тогда, когда они нужны по ходу конкретной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4525388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45841-B9BD-4BF5-B50B-C93C437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C0DF9734-4B50-4B83-8275-8F492A2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5C82FE23-56E9-43AF-976F-36A8D1E9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Роли: единый процесс, разная ответственность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CA86BA9-5E19-480F-A419-1E2AAC7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2E315-04B2-4193-86AC-372F565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21F99-0A39-4F7A-82FD-0602027D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8" name="Text-80-235">
            <a:extLst xmlns:a="http://schemas.openxmlformats.org/drawingml/2006/main">
              <a:ext uri="{FF2B5EF4-FFF2-40B4-BE49-F238E27FC236}">
                <a16:creationId xmlns:a16="http://schemas.microsoft.com/office/drawing/2014/main" id="{07453E95-B5BE-47C4-8891-3946F7D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Оператор</a:t>
            </a:r>
          </a:p>
        </p:txBody>
      </p:sp>
      <p:sp>
        <p:nvSpPr>
          <p:cNvPr id="9" name="Text-80-330">
            <a:extLst xmlns:a="http://schemas.openxmlformats.org/drawingml/2006/main">
              <a:ext uri="{FF2B5EF4-FFF2-40B4-BE49-F238E27FC236}">
                <a16:creationId xmlns:a16="http://schemas.microsoft.com/office/drawing/2014/main" id="{28AE3238-BE76-49E2-8334-92D8C249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Выполняет смену и передаёт подтверждённый результат.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613AB-96B6-4244-A296-4AE07DB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B74AB-0527-446E-BD72-79DFB2B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2" name="Text-370-235">
            <a:extLst xmlns:a="http://schemas.openxmlformats.org/drawingml/2006/main">
              <a:ext uri="{FF2B5EF4-FFF2-40B4-BE49-F238E27FC236}">
                <a16:creationId xmlns:a16="http://schemas.microsoft.com/office/drawing/2014/main" id="{41261A4D-4ABA-4A1C-B99F-C0AE5109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технолог</a:t>
            </a:r>
          </a:p>
        </p:txBody>
      </p:sp>
      <p:sp>
        <p:nvSpPr>
          <p:cNvPr id="13" name="Text-370-330">
            <a:extLst xmlns:a="http://schemas.openxmlformats.org/drawingml/2006/main">
              <a:ext uri="{FF2B5EF4-FFF2-40B4-BE49-F238E27FC236}">
                <a16:creationId xmlns:a16="http://schemas.microsoft.com/office/drawing/2014/main" id="{A03EE976-034F-42E8-B40E-D19B34E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Проверяет качество и фиксирует решение по приёмке.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39C12-44CA-47DE-A08F-A0DF0D9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32EE8-4F5C-4BB7-BADD-7AECC2D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6" name="Text-660-235">
            <a:extLst xmlns:a="http://schemas.openxmlformats.org/drawingml/2006/main">
              <a:ext uri="{FF2B5EF4-FFF2-40B4-BE49-F238E27FC236}">
                <a16:creationId xmlns:a16="http://schemas.microsoft.com/office/drawing/2014/main" id="{3A008E7C-5AD2-4034-8EC7-4C25F1C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механик</a:t>
            </a:r>
          </a:p>
        </p:txBody>
      </p:sp>
      <p:sp>
        <p:nvSpPr>
          <p:cNvPr id="17" name="Text-660-330">
            <a:extLst xmlns:a="http://schemas.openxmlformats.org/drawingml/2006/main">
              <a:ext uri="{FF2B5EF4-FFF2-40B4-BE49-F238E27FC236}">
                <a16:creationId xmlns:a16="http://schemas.microsoft.com/office/drawing/2014/main" id="{33A9D557-CF8A-4C3D-91A1-4F4619E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 демонстрационном контуре использует общий экран контроля.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22E6-31BD-41E7-8E00-EAC019F1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D3571-415B-49C2-9E1B-D0942A5F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20" name="Text-950-235">
            <a:extLst xmlns:a="http://schemas.openxmlformats.org/drawingml/2006/main">
              <a:ext uri="{FF2B5EF4-FFF2-40B4-BE49-F238E27FC236}">
                <a16:creationId xmlns:a16="http://schemas.microsoft.com/office/drawing/2014/main" id="{E1B6F93A-D6BA-43CE-9615-E74526D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Супер‑админ</a:t>
            </a:r>
          </a:p>
        </p:txBody>
      </p:sp>
      <p:sp>
        <p:nvSpPr>
          <p:cNvPr id="21" name="Text-950-330">
            <a:extLst xmlns:a="http://schemas.openxmlformats.org/drawingml/2006/main">
              <a:ext uri="{FF2B5EF4-FFF2-40B4-BE49-F238E27FC236}">
                <a16:creationId xmlns:a16="http://schemas.microsoft.com/office/drawing/2014/main" id="{1D7417BA-C891-4906-B4B4-A1ED3ABA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 демонстрационном контуре использует общий экран контроля.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8C997-A69D-4580-BA81-AAA2562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76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23" name="Text-82-623">
            <a:extLst xmlns:a="http://schemas.openxmlformats.org/drawingml/2006/main">
              <a:ext uri="{FF2B5EF4-FFF2-40B4-BE49-F238E27FC236}">
                <a16:creationId xmlns:a16="http://schemas.microsoft.com/office/drawing/2014/main" id="{AF263999-001A-4D03-A481-09C35CC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1030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На демонстрации показываем полный цикл: оператор выполняет → главный технолог принимает.</a:t>
            </a:r>
          </a:p>
        </p:txBody>
      </p:sp>
    </p:spTree>
    <p:extLst>
      <p:ext uri="{BB962C8B-B14F-4D97-AF65-F5344CB8AC3E}">
        <p14:creationId xmlns:p14="http://schemas.microsoft.com/office/powerpoint/2010/main" val="17354634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34FEA-77F0-4D7A-84AF-289AA356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52-42">
            <a:extLst xmlns:a="http://schemas.openxmlformats.org/drawingml/2006/main">
              <a:ext uri="{FF2B5EF4-FFF2-40B4-BE49-F238E27FC236}">
                <a16:creationId xmlns:a16="http://schemas.microsoft.com/office/drawing/2014/main" id="{67B5EC74-67AA-4FF8-A901-02D6473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ИТОГ</a:t>
            </a:r>
          </a:p>
        </p:txBody>
      </p:sp>
      <p:sp>
        <p:nvSpPr>
          <p:cNvPr id="3" name="Text-52-176">
            <a:extLst xmlns:a="http://schemas.openxmlformats.org/drawingml/2006/main">
              <a:ext uri="{FF2B5EF4-FFF2-40B4-BE49-F238E27FC236}">
                <a16:creationId xmlns:a16="http://schemas.microsoft.com/office/drawing/2014/main" id="{F59241AF-0BBA-4C32-B206-0ED69BE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9144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Работа становится
видимой и управляемой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3857625"/>
            <a:ext cx="10668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52-450">
            <a:extLst xmlns:a="http://schemas.openxmlformats.org/drawingml/2006/main">
              <a:ext uri="{FF2B5EF4-FFF2-40B4-BE49-F238E27FC236}">
                <a16:creationId xmlns:a16="http://schemas.microsoft.com/office/drawing/2014/main" id="{2B6F9F69-408E-488C-AEA1-5F5157C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понятный следующий шаг</a:t>
            </a:r>
          </a:p>
        </p:txBody>
      </p:sp>
      <p:sp>
        <p:nvSpPr>
          <p:cNvPr id="6" name="Text-425-450">
            <a:extLst xmlns:a="http://schemas.openxmlformats.org/drawingml/2006/main">
              <a:ext uri="{FF2B5EF4-FFF2-40B4-BE49-F238E27FC236}">
                <a16:creationId xmlns:a16="http://schemas.microsoft.com/office/drawing/2014/main" id="{FF078B72-5B84-4751-AF0A-4BAB0CBC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подтверждение результата</a:t>
            </a:r>
          </a:p>
        </p:txBody>
      </p:sp>
      <p:sp>
        <p:nvSpPr>
          <p:cNvPr id="7" name="Text-850-450">
            <a:extLst xmlns:a="http://schemas.openxmlformats.org/drawingml/2006/main">
              <a:ext uri="{FF2B5EF4-FFF2-40B4-BE49-F238E27FC236}">
                <a16:creationId xmlns:a16="http://schemas.microsoft.com/office/drawing/2014/main" id="{BAD60FB1-68F7-42F6-908B-67704822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контроль качества</a:t>
            </a:r>
          </a:p>
        </p:txBody>
      </p:sp>
      <p:sp>
        <p:nvSpPr>
          <p:cNvPr id="8" name="Text-52-612">
            <a:extLst xmlns:a="http://schemas.openxmlformats.org/drawingml/2006/main">
              <a:ext uri="{FF2B5EF4-FFF2-40B4-BE49-F238E27FC236}">
                <a16:creationId xmlns:a16="http://schemas.microsoft.com/office/drawing/2014/main" id="{A7A17161-5573-4B62-821A-FD0471E4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Спасибо — готовы пройти сценарий вживую</a:t>
            </a:r>
          </a:p>
        </p:txBody>
      </p:sp>
    </p:spTree>
    <p:extLst>
      <p:ext uri="{BB962C8B-B14F-4D97-AF65-F5344CB8AC3E}">
        <p14:creationId xmlns:p14="http://schemas.microsoft.com/office/powerpoint/2010/main" val="856557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2026-07-15T09:05:11.9580000Z</dcterms:created>
  <dcterms:modified xsi:type="dcterms:W3CDTF">2026-07-15T09:05:11.9580000Z</dcterms:modified>
</coreProperties>
</file>